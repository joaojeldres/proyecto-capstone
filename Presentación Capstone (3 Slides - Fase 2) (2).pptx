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</p:sldIdLst>
  <p:sldSz cy="6858000" cx="12192000"/>
  <p:notesSz cx="6858000" cy="9144000"/>
  <p:embeddedFontLst>
    <p:embeddedFont>
      <p:font typeface="Plus Jakarta Sans"/>
      <p:regular r:id="rId10"/>
      <p:bold r:id="rId11"/>
      <p:italic r:id="rId12"/>
      <p:boldItalic r:id="rId13"/>
    </p:embeddedFont>
    <p:embeddedFont>
      <p:font typeface="Inter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803955E-68C0-4E9F-8D42-C75F7A7BFA07}">
  <a:tblStyle styleId="{B803955E-68C0-4E9F-8D42-C75F7A7BFA07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PlusJakartaSans-bold.fntdata"/><Relationship Id="rId10" Type="http://schemas.openxmlformats.org/officeDocument/2006/relationships/font" Target="fonts/PlusJakartaSans-regular.fntdata"/><Relationship Id="rId13" Type="http://schemas.openxmlformats.org/officeDocument/2006/relationships/font" Target="fonts/PlusJakartaSans-boldItalic.fntdata"/><Relationship Id="rId12" Type="http://schemas.openxmlformats.org/officeDocument/2006/relationships/font" Target="fonts/PlusJakartaSans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font" Target="fonts/Inter-bold.fntdata"/><Relationship Id="rId14" Type="http://schemas.openxmlformats.org/officeDocument/2006/relationships/font" Target="fonts/Inter-regular.fntdata"/><Relationship Id="rId17" Type="http://schemas.openxmlformats.org/officeDocument/2006/relationships/font" Target="fonts/Inter-boldItalic.fntdata"/><Relationship Id="rId16" Type="http://schemas.openxmlformats.org/officeDocument/2006/relationships/font" Target="fonts/Inter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2.png"/><Relationship Id="rId5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5" Type="http://schemas.openxmlformats.org/officeDocument/2006/relationships/image" Target="../media/image8.png"/><Relationship Id="rId6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7.png"/><Relationship Id="rId5" Type="http://schemas.openxmlformats.org/officeDocument/2006/relationships/image" Target="../media/image12.png"/><Relationship Id="rId6" Type="http://schemas.openxmlformats.org/officeDocument/2006/relationships/image" Target="../media/image5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/>
          <p:nvPr/>
        </p:nvSpPr>
        <p:spPr>
          <a:xfrm>
            <a:off x="457200" y="4257675"/>
            <a:ext cx="11277600" cy="1352550"/>
          </a:xfrm>
          <a:prstGeom prst="roundRect">
            <a:avLst>
              <a:gd fmla="val 5633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/>
          <p:nvPr/>
        </p:nvSpPr>
        <p:spPr>
          <a:xfrm>
            <a:off x="457200" y="5762625"/>
            <a:ext cx="11277600" cy="36195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/>
          <p:nvPr/>
        </p:nvSpPr>
        <p:spPr>
          <a:xfrm>
            <a:off x="457200" y="385762"/>
            <a:ext cx="681037" cy="228600"/>
          </a:xfrm>
          <a:prstGeom prst="roundRect">
            <a:avLst>
              <a:gd fmla="val 50000" name="adj"/>
            </a:avLst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/>
          <p:nvPr/>
        </p:nvSpPr>
        <p:spPr>
          <a:xfrm>
            <a:off x="3382119" y="985837"/>
            <a:ext cx="9525" cy="357187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/>
          <p:nvPr/>
        </p:nvSpPr>
        <p:spPr>
          <a:xfrm>
            <a:off x="5072211" y="985837"/>
            <a:ext cx="9525" cy="357187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3"/>
          <p:cNvSpPr/>
          <p:nvPr/>
        </p:nvSpPr>
        <p:spPr>
          <a:xfrm>
            <a:off x="6536977" y="985837"/>
            <a:ext cx="9525" cy="357187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3"/>
          <p:cNvSpPr/>
          <p:nvPr/>
        </p:nvSpPr>
        <p:spPr>
          <a:xfrm>
            <a:off x="7889081" y="985837"/>
            <a:ext cx="9525" cy="357187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3"/>
          <p:cNvSpPr/>
          <p:nvPr/>
        </p:nvSpPr>
        <p:spPr>
          <a:xfrm>
            <a:off x="9241184" y="985837"/>
            <a:ext cx="9525" cy="357187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3"/>
          <p:cNvSpPr/>
          <p:nvPr/>
        </p:nvSpPr>
        <p:spPr>
          <a:xfrm>
            <a:off x="457200" y="5762625"/>
            <a:ext cx="38100" cy="36195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3"/>
          <p:cNvSpPr/>
          <p:nvPr/>
        </p:nvSpPr>
        <p:spPr>
          <a:xfrm>
            <a:off x="461962" y="1776412"/>
            <a:ext cx="292968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3"/>
          <p:cNvSpPr/>
          <p:nvPr/>
        </p:nvSpPr>
        <p:spPr>
          <a:xfrm>
            <a:off x="3382119" y="1343025"/>
            <a:ext cx="9525" cy="44291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3"/>
          <p:cNvSpPr/>
          <p:nvPr/>
        </p:nvSpPr>
        <p:spPr>
          <a:xfrm>
            <a:off x="3391644" y="1776412"/>
            <a:ext cx="169009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3"/>
          <p:cNvSpPr/>
          <p:nvPr/>
        </p:nvSpPr>
        <p:spPr>
          <a:xfrm>
            <a:off x="5072211" y="1343025"/>
            <a:ext cx="9525" cy="44291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3"/>
          <p:cNvSpPr/>
          <p:nvPr/>
        </p:nvSpPr>
        <p:spPr>
          <a:xfrm>
            <a:off x="5081736" y="1776412"/>
            <a:ext cx="146476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3"/>
          <p:cNvSpPr/>
          <p:nvPr/>
        </p:nvSpPr>
        <p:spPr>
          <a:xfrm>
            <a:off x="6536977" y="1343025"/>
            <a:ext cx="9525" cy="44291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3"/>
          <p:cNvSpPr/>
          <p:nvPr/>
        </p:nvSpPr>
        <p:spPr>
          <a:xfrm>
            <a:off x="6546502" y="1776412"/>
            <a:ext cx="135210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3"/>
          <p:cNvSpPr/>
          <p:nvPr/>
        </p:nvSpPr>
        <p:spPr>
          <a:xfrm>
            <a:off x="7889081" y="1343025"/>
            <a:ext cx="9525" cy="44291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3"/>
          <p:cNvSpPr/>
          <p:nvPr/>
        </p:nvSpPr>
        <p:spPr>
          <a:xfrm>
            <a:off x="7898606" y="1776412"/>
            <a:ext cx="135210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3"/>
          <p:cNvSpPr/>
          <p:nvPr/>
        </p:nvSpPr>
        <p:spPr>
          <a:xfrm>
            <a:off x="9241184" y="1343025"/>
            <a:ext cx="9525" cy="44291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3"/>
          <p:cNvSpPr/>
          <p:nvPr/>
        </p:nvSpPr>
        <p:spPr>
          <a:xfrm>
            <a:off x="9250709" y="1776412"/>
            <a:ext cx="247932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3"/>
          <p:cNvSpPr/>
          <p:nvPr/>
        </p:nvSpPr>
        <p:spPr>
          <a:xfrm>
            <a:off x="11720512" y="1343025"/>
            <a:ext cx="9525" cy="44291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3"/>
          <p:cNvSpPr/>
          <p:nvPr/>
        </p:nvSpPr>
        <p:spPr>
          <a:xfrm>
            <a:off x="461962" y="2262187"/>
            <a:ext cx="292968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3"/>
          <p:cNvSpPr/>
          <p:nvPr/>
        </p:nvSpPr>
        <p:spPr>
          <a:xfrm>
            <a:off x="3382119" y="1785937"/>
            <a:ext cx="9525" cy="4857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3"/>
          <p:cNvSpPr/>
          <p:nvPr/>
        </p:nvSpPr>
        <p:spPr>
          <a:xfrm>
            <a:off x="3391644" y="2262187"/>
            <a:ext cx="169009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3"/>
          <p:cNvSpPr/>
          <p:nvPr/>
        </p:nvSpPr>
        <p:spPr>
          <a:xfrm>
            <a:off x="5072211" y="1785937"/>
            <a:ext cx="9525" cy="4857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3"/>
          <p:cNvSpPr/>
          <p:nvPr/>
        </p:nvSpPr>
        <p:spPr>
          <a:xfrm>
            <a:off x="5081736" y="2262187"/>
            <a:ext cx="146476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/>
          <p:nvPr/>
        </p:nvSpPr>
        <p:spPr>
          <a:xfrm>
            <a:off x="6536977" y="1785937"/>
            <a:ext cx="9525" cy="4857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3"/>
          <p:cNvSpPr/>
          <p:nvPr/>
        </p:nvSpPr>
        <p:spPr>
          <a:xfrm>
            <a:off x="6546502" y="2262187"/>
            <a:ext cx="135210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3"/>
          <p:cNvSpPr/>
          <p:nvPr/>
        </p:nvSpPr>
        <p:spPr>
          <a:xfrm>
            <a:off x="7889081" y="1785937"/>
            <a:ext cx="9525" cy="4857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3"/>
          <p:cNvSpPr/>
          <p:nvPr/>
        </p:nvSpPr>
        <p:spPr>
          <a:xfrm>
            <a:off x="7898606" y="2262187"/>
            <a:ext cx="135210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3"/>
          <p:cNvSpPr/>
          <p:nvPr/>
        </p:nvSpPr>
        <p:spPr>
          <a:xfrm>
            <a:off x="9241184" y="1785937"/>
            <a:ext cx="9525" cy="4857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3"/>
          <p:cNvSpPr/>
          <p:nvPr/>
        </p:nvSpPr>
        <p:spPr>
          <a:xfrm>
            <a:off x="9250709" y="2262187"/>
            <a:ext cx="247932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3"/>
          <p:cNvSpPr/>
          <p:nvPr/>
        </p:nvSpPr>
        <p:spPr>
          <a:xfrm>
            <a:off x="11720512" y="1785937"/>
            <a:ext cx="9525" cy="4857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3"/>
          <p:cNvSpPr/>
          <p:nvPr/>
        </p:nvSpPr>
        <p:spPr>
          <a:xfrm>
            <a:off x="461962" y="2747962"/>
            <a:ext cx="292968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3"/>
          <p:cNvSpPr/>
          <p:nvPr/>
        </p:nvSpPr>
        <p:spPr>
          <a:xfrm>
            <a:off x="3382119" y="2271712"/>
            <a:ext cx="9525" cy="4857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3"/>
          <p:cNvSpPr/>
          <p:nvPr/>
        </p:nvSpPr>
        <p:spPr>
          <a:xfrm>
            <a:off x="3391644" y="2747962"/>
            <a:ext cx="169009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3"/>
          <p:cNvSpPr/>
          <p:nvPr/>
        </p:nvSpPr>
        <p:spPr>
          <a:xfrm>
            <a:off x="5072211" y="2271712"/>
            <a:ext cx="9525" cy="4857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3"/>
          <p:cNvSpPr/>
          <p:nvPr/>
        </p:nvSpPr>
        <p:spPr>
          <a:xfrm>
            <a:off x="5081736" y="2747962"/>
            <a:ext cx="146476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3"/>
          <p:cNvSpPr/>
          <p:nvPr/>
        </p:nvSpPr>
        <p:spPr>
          <a:xfrm>
            <a:off x="6536977" y="2271712"/>
            <a:ext cx="9525" cy="4857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3"/>
          <p:cNvSpPr/>
          <p:nvPr/>
        </p:nvSpPr>
        <p:spPr>
          <a:xfrm>
            <a:off x="6546502" y="2747962"/>
            <a:ext cx="135210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3"/>
          <p:cNvSpPr/>
          <p:nvPr/>
        </p:nvSpPr>
        <p:spPr>
          <a:xfrm>
            <a:off x="7889081" y="2271712"/>
            <a:ext cx="9525" cy="4857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3"/>
          <p:cNvSpPr/>
          <p:nvPr/>
        </p:nvSpPr>
        <p:spPr>
          <a:xfrm>
            <a:off x="7898606" y="2747962"/>
            <a:ext cx="135210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3"/>
          <p:cNvSpPr/>
          <p:nvPr/>
        </p:nvSpPr>
        <p:spPr>
          <a:xfrm>
            <a:off x="9241184" y="2271712"/>
            <a:ext cx="9525" cy="4857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3"/>
          <p:cNvSpPr/>
          <p:nvPr/>
        </p:nvSpPr>
        <p:spPr>
          <a:xfrm>
            <a:off x="9250709" y="2747962"/>
            <a:ext cx="247932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3"/>
          <p:cNvSpPr/>
          <p:nvPr/>
        </p:nvSpPr>
        <p:spPr>
          <a:xfrm>
            <a:off x="11720512" y="2271712"/>
            <a:ext cx="9525" cy="4857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3"/>
          <p:cNvSpPr/>
          <p:nvPr/>
        </p:nvSpPr>
        <p:spPr>
          <a:xfrm>
            <a:off x="461962" y="3195637"/>
            <a:ext cx="292968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3"/>
          <p:cNvSpPr/>
          <p:nvPr/>
        </p:nvSpPr>
        <p:spPr>
          <a:xfrm>
            <a:off x="3382119" y="2757487"/>
            <a:ext cx="9525" cy="4476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3"/>
          <p:cNvSpPr/>
          <p:nvPr/>
        </p:nvSpPr>
        <p:spPr>
          <a:xfrm>
            <a:off x="3391644" y="3195637"/>
            <a:ext cx="169009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3"/>
          <p:cNvSpPr/>
          <p:nvPr/>
        </p:nvSpPr>
        <p:spPr>
          <a:xfrm>
            <a:off x="5072211" y="2757487"/>
            <a:ext cx="9525" cy="4476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3"/>
          <p:cNvSpPr/>
          <p:nvPr/>
        </p:nvSpPr>
        <p:spPr>
          <a:xfrm>
            <a:off x="5081736" y="3195637"/>
            <a:ext cx="146476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3"/>
          <p:cNvSpPr/>
          <p:nvPr/>
        </p:nvSpPr>
        <p:spPr>
          <a:xfrm>
            <a:off x="6536977" y="2757487"/>
            <a:ext cx="9525" cy="4476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3"/>
          <p:cNvSpPr/>
          <p:nvPr/>
        </p:nvSpPr>
        <p:spPr>
          <a:xfrm>
            <a:off x="6546502" y="3195637"/>
            <a:ext cx="135210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3"/>
          <p:cNvSpPr/>
          <p:nvPr/>
        </p:nvSpPr>
        <p:spPr>
          <a:xfrm>
            <a:off x="7889081" y="2757487"/>
            <a:ext cx="9525" cy="4476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3"/>
          <p:cNvSpPr/>
          <p:nvPr/>
        </p:nvSpPr>
        <p:spPr>
          <a:xfrm>
            <a:off x="7898606" y="3195637"/>
            <a:ext cx="135210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3"/>
          <p:cNvSpPr/>
          <p:nvPr/>
        </p:nvSpPr>
        <p:spPr>
          <a:xfrm>
            <a:off x="9241184" y="2757487"/>
            <a:ext cx="9525" cy="4476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3"/>
          <p:cNvSpPr/>
          <p:nvPr/>
        </p:nvSpPr>
        <p:spPr>
          <a:xfrm>
            <a:off x="9250709" y="3195637"/>
            <a:ext cx="247932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3"/>
          <p:cNvSpPr/>
          <p:nvPr/>
        </p:nvSpPr>
        <p:spPr>
          <a:xfrm>
            <a:off x="11720512" y="2757487"/>
            <a:ext cx="9525" cy="4476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3"/>
          <p:cNvSpPr/>
          <p:nvPr/>
        </p:nvSpPr>
        <p:spPr>
          <a:xfrm>
            <a:off x="461962" y="3643312"/>
            <a:ext cx="292968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3"/>
          <p:cNvSpPr/>
          <p:nvPr/>
        </p:nvSpPr>
        <p:spPr>
          <a:xfrm>
            <a:off x="3382119" y="3205162"/>
            <a:ext cx="9525" cy="4476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3"/>
          <p:cNvSpPr/>
          <p:nvPr/>
        </p:nvSpPr>
        <p:spPr>
          <a:xfrm>
            <a:off x="3391644" y="3643312"/>
            <a:ext cx="169009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3"/>
          <p:cNvSpPr/>
          <p:nvPr/>
        </p:nvSpPr>
        <p:spPr>
          <a:xfrm>
            <a:off x="5072211" y="3205162"/>
            <a:ext cx="9525" cy="4476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3"/>
          <p:cNvSpPr/>
          <p:nvPr/>
        </p:nvSpPr>
        <p:spPr>
          <a:xfrm>
            <a:off x="5081736" y="3643312"/>
            <a:ext cx="146476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3"/>
          <p:cNvSpPr/>
          <p:nvPr/>
        </p:nvSpPr>
        <p:spPr>
          <a:xfrm>
            <a:off x="6536977" y="3205162"/>
            <a:ext cx="9525" cy="4476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3"/>
          <p:cNvSpPr/>
          <p:nvPr/>
        </p:nvSpPr>
        <p:spPr>
          <a:xfrm>
            <a:off x="6546502" y="3643312"/>
            <a:ext cx="135210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3"/>
          <p:cNvSpPr/>
          <p:nvPr/>
        </p:nvSpPr>
        <p:spPr>
          <a:xfrm>
            <a:off x="7889081" y="3205162"/>
            <a:ext cx="9525" cy="4476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3"/>
          <p:cNvSpPr/>
          <p:nvPr/>
        </p:nvSpPr>
        <p:spPr>
          <a:xfrm>
            <a:off x="7898606" y="3643312"/>
            <a:ext cx="135210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3"/>
          <p:cNvSpPr/>
          <p:nvPr/>
        </p:nvSpPr>
        <p:spPr>
          <a:xfrm>
            <a:off x="9241184" y="3205162"/>
            <a:ext cx="9525" cy="4476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3"/>
          <p:cNvSpPr/>
          <p:nvPr/>
        </p:nvSpPr>
        <p:spPr>
          <a:xfrm>
            <a:off x="9250709" y="3643312"/>
            <a:ext cx="247932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3"/>
          <p:cNvSpPr/>
          <p:nvPr/>
        </p:nvSpPr>
        <p:spPr>
          <a:xfrm>
            <a:off x="11720512" y="3205162"/>
            <a:ext cx="9525" cy="4476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3"/>
          <p:cNvSpPr/>
          <p:nvPr/>
        </p:nvSpPr>
        <p:spPr>
          <a:xfrm>
            <a:off x="3382119" y="3652837"/>
            <a:ext cx="9525" cy="4476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3"/>
          <p:cNvSpPr/>
          <p:nvPr/>
        </p:nvSpPr>
        <p:spPr>
          <a:xfrm>
            <a:off x="5072211" y="3652837"/>
            <a:ext cx="9525" cy="4476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3"/>
          <p:cNvSpPr/>
          <p:nvPr/>
        </p:nvSpPr>
        <p:spPr>
          <a:xfrm>
            <a:off x="6536977" y="3652837"/>
            <a:ext cx="9525" cy="4476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3"/>
          <p:cNvSpPr/>
          <p:nvPr/>
        </p:nvSpPr>
        <p:spPr>
          <a:xfrm>
            <a:off x="7889081" y="3652837"/>
            <a:ext cx="9525" cy="4476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3"/>
          <p:cNvSpPr/>
          <p:nvPr/>
        </p:nvSpPr>
        <p:spPr>
          <a:xfrm>
            <a:off x="9241184" y="3652837"/>
            <a:ext cx="9525" cy="4476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3"/>
          <p:cNvSpPr/>
          <p:nvPr/>
        </p:nvSpPr>
        <p:spPr>
          <a:xfrm>
            <a:off x="11720512" y="3652837"/>
            <a:ext cx="9525" cy="4476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3"/>
          <p:cNvSpPr/>
          <p:nvPr/>
        </p:nvSpPr>
        <p:spPr>
          <a:xfrm>
            <a:off x="6597699" y="4457700"/>
            <a:ext cx="742950" cy="152400"/>
          </a:xfrm>
          <a:prstGeom prst="roundRect">
            <a:avLst>
              <a:gd fmla="val 25000" name="adj"/>
            </a:avLst>
          </a:prstGeom>
          <a:solidFill>
            <a:srgbClr val="EF44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3"/>
          <p:cNvSpPr/>
          <p:nvPr/>
        </p:nvSpPr>
        <p:spPr>
          <a:xfrm>
            <a:off x="2409825" y="4648200"/>
            <a:ext cx="1476375" cy="219075"/>
          </a:xfrm>
          <a:prstGeom prst="roundRect">
            <a:avLst>
              <a:gd fmla="val 17391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3"/>
          <p:cNvSpPr/>
          <p:nvPr/>
        </p:nvSpPr>
        <p:spPr>
          <a:xfrm>
            <a:off x="3943350" y="4648200"/>
            <a:ext cx="1476375" cy="219075"/>
          </a:xfrm>
          <a:prstGeom prst="roundRect">
            <a:avLst>
              <a:gd fmla="val 17391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3"/>
          <p:cNvSpPr/>
          <p:nvPr/>
        </p:nvSpPr>
        <p:spPr>
          <a:xfrm>
            <a:off x="5476875" y="4648200"/>
            <a:ext cx="1476375" cy="219075"/>
          </a:xfrm>
          <a:prstGeom prst="roundRect">
            <a:avLst>
              <a:gd fmla="val 17391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3"/>
          <p:cNvSpPr/>
          <p:nvPr/>
        </p:nvSpPr>
        <p:spPr>
          <a:xfrm>
            <a:off x="7010400" y="4648200"/>
            <a:ext cx="1476375" cy="219075"/>
          </a:xfrm>
          <a:prstGeom prst="roundRect">
            <a:avLst>
              <a:gd fmla="val 17391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3"/>
          <p:cNvSpPr/>
          <p:nvPr/>
        </p:nvSpPr>
        <p:spPr>
          <a:xfrm>
            <a:off x="8543925" y="4648200"/>
            <a:ext cx="1476375" cy="219075"/>
          </a:xfrm>
          <a:prstGeom prst="roundRect">
            <a:avLst>
              <a:gd fmla="val 17391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3"/>
          <p:cNvSpPr/>
          <p:nvPr/>
        </p:nvSpPr>
        <p:spPr>
          <a:xfrm>
            <a:off x="10077450" y="4648200"/>
            <a:ext cx="1476375" cy="219075"/>
          </a:xfrm>
          <a:prstGeom prst="roundRect">
            <a:avLst>
              <a:gd fmla="val 17391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3"/>
          <p:cNvSpPr/>
          <p:nvPr/>
        </p:nvSpPr>
        <p:spPr>
          <a:xfrm>
            <a:off x="2409825" y="4929187"/>
            <a:ext cx="9144000" cy="133350"/>
          </a:xfrm>
          <a:prstGeom prst="roundRect">
            <a:avLst>
              <a:gd fmla="val 50000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3"/>
          <p:cNvSpPr/>
          <p:nvPr/>
        </p:nvSpPr>
        <p:spPr>
          <a:xfrm>
            <a:off x="2409825" y="5129212"/>
            <a:ext cx="9144000" cy="133350"/>
          </a:xfrm>
          <a:prstGeom prst="roundRect">
            <a:avLst>
              <a:gd fmla="val 50000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3"/>
          <p:cNvSpPr/>
          <p:nvPr/>
        </p:nvSpPr>
        <p:spPr>
          <a:xfrm>
            <a:off x="2409825" y="5329237"/>
            <a:ext cx="9144000" cy="133350"/>
          </a:xfrm>
          <a:prstGeom prst="roundRect">
            <a:avLst>
              <a:gd fmla="val 50000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3"/>
          <p:cNvSpPr/>
          <p:nvPr/>
        </p:nvSpPr>
        <p:spPr>
          <a:xfrm>
            <a:off x="2409825" y="4929187"/>
            <a:ext cx="3200400" cy="133350"/>
          </a:xfrm>
          <a:prstGeom prst="roundRect">
            <a:avLst>
              <a:gd fmla="val 50000" name="adj"/>
            </a:avLst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3"/>
          <p:cNvSpPr/>
          <p:nvPr/>
        </p:nvSpPr>
        <p:spPr>
          <a:xfrm>
            <a:off x="4238625" y="5129212"/>
            <a:ext cx="6400800" cy="133350"/>
          </a:xfrm>
          <a:prstGeom prst="roundRect">
            <a:avLst>
              <a:gd fmla="val 50000" name="adj"/>
            </a:avLst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3"/>
          <p:cNvSpPr/>
          <p:nvPr/>
        </p:nvSpPr>
        <p:spPr>
          <a:xfrm>
            <a:off x="8353425" y="5329237"/>
            <a:ext cx="2743200" cy="133350"/>
          </a:xfrm>
          <a:prstGeom prst="roundRect">
            <a:avLst>
              <a:gd fmla="val 50000" name="adj"/>
            </a:avLst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3"/>
          <p:cNvSpPr/>
          <p:nvPr/>
        </p:nvSpPr>
        <p:spPr>
          <a:xfrm>
            <a:off x="6665565" y="1619250"/>
            <a:ext cx="1113978" cy="76200"/>
          </a:xfrm>
          <a:prstGeom prst="roundRect">
            <a:avLst>
              <a:gd fmla="val 50000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3"/>
          <p:cNvSpPr/>
          <p:nvPr/>
        </p:nvSpPr>
        <p:spPr>
          <a:xfrm>
            <a:off x="8017668" y="1462087"/>
            <a:ext cx="866775" cy="200025"/>
          </a:xfrm>
          <a:prstGeom prst="roundRect">
            <a:avLst>
              <a:gd fmla="val 50000" name="adj"/>
            </a:avLst>
          </a:prstGeom>
          <a:solidFill>
            <a:srgbClr val="DCFCE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3"/>
          <p:cNvSpPr/>
          <p:nvPr/>
        </p:nvSpPr>
        <p:spPr>
          <a:xfrm>
            <a:off x="6665565" y="2085975"/>
            <a:ext cx="1113978" cy="76200"/>
          </a:xfrm>
          <a:prstGeom prst="roundRect">
            <a:avLst>
              <a:gd fmla="val 50000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3"/>
          <p:cNvSpPr/>
          <p:nvPr/>
        </p:nvSpPr>
        <p:spPr>
          <a:xfrm>
            <a:off x="8017668" y="1928812"/>
            <a:ext cx="866775" cy="200025"/>
          </a:xfrm>
          <a:prstGeom prst="roundRect">
            <a:avLst>
              <a:gd fmla="val 50000" name="adj"/>
            </a:avLst>
          </a:prstGeom>
          <a:solidFill>
            <a:srgbClr val="DCFCE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3"/>
          <p:cNvSpPr/>
          <p:nvPr/>
        </p:nvSpPr>
        <p:spPr>
          <a:xfrm>
            <a:off x="6665565" y="2571750"/>
            <a:ext cx="1113978" cy="76200"/>
          </a:xfrm>
          <a:prstGeom prst="roundRect">
            <a:avLst>
              <a:gd fmla="val 50000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3"/>
          <p:cNvSpPr/>
          <p:nvPr/>
        </p:nvSpPr>
        <p:spPr>
          <a:xfrm>
            <a:off x="8017668" y="2414587"/>
            <a:ext cx="866775" cy="200025"/>
          </a:xfrm>
          <a:prstGeom prst="roundRect">
            <a:avLst>
              <a:gd fmla="val 50000" name="adj"/>
            </a:avLst>
          </a:prstGeom>
          <a:solidFill>
            <a:srgbClr val="DCFCE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3"/>
          <p:cNvSpPr/>
          <p:nvPr/>
        </p:nvSpPr>
        <p:spPr>
          <a:xfrm>
            <a:off x="6665565" y="3038475"/>
            <a:ext cx="1113978" cy="76200"/>
          </a:xfrm>
          <a:prstGeom prst="roundRect">
            <a:avLst>
              <a:gd fmla="val 50000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3"/>
          <p:cNvSpPr/>
          <p:nvPr/>
        </p:nvSpPr>
        <p:spPr>
          <a:xfrm>
            <a:off x="8017668" y="2881312"/>
            <a:ext cx="866775" cy="200025"/>
          </a:xfrm>
          <a:prstGeom prst="roundRect">
            <a:avLst>
              <a:gd fmla="val 50000" name="adj"/>
            </a:avLst>
          </a:prstGeom>
          <a:solidFill>
            <a:srgbClr val="DCFCE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3"/>
          <p:cNvSpPr/>
          <p:nvPr/>
        </p:nvSpPr>
        <p:spPr>
          <a:xfrm>
            <a:off x="6665565" y="3486150"/>
            <a:ext cx="1113978" cy="76200"/>
          </a:xfrm>
          <a:prstGeom prst="roundRect">
            <a:avLst>
              <a:gd fmla="val 50000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3"/>
          <p:cNvSpPr/>
          <p:nvPr/>
        </p:nvSpPr>
        <p:spPr>
          <a:xfrm>
            <a:off x="8017668" y="3328987"/>
            <a:ext cx="685800" cy="200025"/>
          </a:xfrm>
          <a:prstGeom prst="roundRect">
            <a:avLst>
              <a:gd fmla="val 50000" name="adj"/>
            </a:avLst>
          </a:prstGeom>
          <a:solidFill>
            <a:srgbClr val="E0F2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3"/>
          <p:cNvSpPr/>
          <p:nvPr/>
        </p:nvSpPr>
        <p:spPr>
          <a:xfrm>
            <a:off x="6665565" y="3933825"/>
            <a:ext cx="1113978" cy="76200"/>
          </a:xfrm>
          <a:prstGeom prst="roundRect">
            <a:avLst>
              <a:gd fmla="val 50000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3"/>
          <p:cNvSpPr/>
          <p:nvPr/>
        </p:nvSpPr>
        <p:spPr>
          <a:xfrm>
            <a:off x="8017668" y="3776662"/>
            <a:ext cx="685800" cy="200025"/>
          </a:xfrm>
          <a:prstGeom prst="roundRect">
            <a:avLst>
              <a:gd fmla="val 50000" name="adj"/>
            </a:avLst>
          </a:prstGeom>
          <a:solidFill>
            <a:srgbClr val="E0F2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3"/>
          <p:cNvSpPr/>
          <p:nvPr/>
        </p:nvSpPr>
        <p:spPr>
          <a:xfrm>
            <a:off x="6665565" y="1619250"/>
            <a:ext cx="1113978" cy="76200"/>
          </a:xfrm>
          <a:prstGeom prst="roundRect">
            <a:avLst>
              <a:gd fmla="val 50000" name="adj"/>
            </a:avLst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3"/>
          <p:cNvSpPr/>
          <p:nvPr/>
        </p:nvSpPr>
        <p:spPr>
          <a:xfrm>
            <a:off x="6665565" y="2085975"/>
            <a:ext cx="1113978" cy="76200"/>
          </a:xfrm>
          <a:prstGeom prst="roundRect">
            <a:avLst>
              <a:gd fmla="val 50000" name="adj"/>
            </a:avLst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3"/>
          <p:cNvSpPr/>
          <p:nvPr/>
        </p:nvSpPr>
        <p:spPr>
          <a:xfrm>
            <a:off x="6665565" y="2571750"/>
            <a:ext cx="1113978" cy="76200"/>
          </a:xfrm>
          <a:prstGeom prst="roundRect">
            <a:avLst>
              <a:gd fmla="val 50000" name="adj"/>
            </a:avLst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3"/>
          <p:cNvSpPr/>
          <p:nvPr/>
        </p:nvSpPr>
        <p:spPr>
          <a:xfrm>
            <a:off x="6665565" y="3038475"/>
            <a:ext cx="1113978" cy="76200"/>
          </a:xfrm>
          <a:prstGeom prst="roundRect">
            <a:avLst>
              <a:gd fmla="val 50000" name="adj"/>
            </a:avLst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3"/>
          <p:cNvSpPr/>
          <p:nvPr/>
        </p:nvSpPr>
        <p:spPr>
          <a:xfrm>
            <a:off x="6665565" y="3486150"/>
            <a:ext cx="835372" cy="76200"/>
          </a:xfrm>
          <a:prstGeom prst="roundRect">
            <a:avLst>
              <a:gd fmla="val 50000" name="adj"/>
            </a:avLst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3"/>
          <p:cNvSpPr/>
          <p:nvPr/>
        </p:nvSpPr>
        <p:spPr>
          <a:xfrm>
            <a:off x="6665565" y="3933825"/>
            <a:ext cx="222795" cy="76200"/>
          </a:xfrm>
          <a:prstGeom prst="roundRect">
            <a:avLst>
              <a:gd fmla="val 50000" name="adj"/>
            </a:avLst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91" name="Google Shape;191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" y="5857875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2" name="Google Shape;192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96450" y="4419600"/>
            <a:ext cx="104775" cy="1238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93" name="Google Shape;193;p13"/>
          <p:cNvGraphicFramePr/>
          <p:nvPr/>
        </p:nvGraphicFramePr>
        <p:xfrm>
          <a:off x="457200" y="981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{B803955E-68C0-4E9F-8D42-C75F7A7BFA07}</a:tableStyleId>
              </a:tblPr>
              <a:tblGrid>
                <a:gridCol w="2929675"/>
                <a:gridCol w="1690100"/>
                <a:gridCol w="1464775"/>
                <a:gridCol w="1352100"/>
                <a:gridCol w="1352100"/>
                <a:gridCol w="2479325"/>
              </a:tblGrid>
              <a:tr h="446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12" u="none" cap="none" strike="noStrike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Tarea Técnica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12" u="none" cap="none" strike="noStrike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Responsable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12" u="none" cap="none" strike="noStrike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Fecha Plan.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12" u="none" cap="none" strike="noStrike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% Avance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12" u="none" cap="none" strike="noStrike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Estado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12" u="none" cap="none" strike="noStrike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Evidencia Asociada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446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12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1. Topología PKT y Segmentación VLANs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Joao Jeldres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15/09/2026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12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100%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Diagrama PKT &amp; ACLs aplicadas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46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12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2. Programación ESP32 &amp; Sensado Wokwi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Néstor Navarro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25/09/2026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12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100%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Código C++/Python &amp; Payload JSON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46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12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3. Ingesta Linux, Mosquitto &amp; InfluxDB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Néstor Navarro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02/10/2026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12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100%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Consola Linux &amp; Ingesta Time-Series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46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12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4. Integración Webhook &amp; Bot Telegram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Francianna Aro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05/10/2026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12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100%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Mensaje Push en Smartphone (&lt;1s)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46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12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5. Configuración Dashboard NOC Grafana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Francianna Aro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12/10/2026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12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75%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Tablero visual e histograma parcial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46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12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6. Montaje y Pruebas en Hardware Físico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Equipo Capstone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25/10/2026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12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20%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Placa ESP32 física y sensores mm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94" name="Google Shape;194;p13"/>
          <p:cNvSpPr txBox="1"/>
          <p:nvPr/>
        </p:nvSpPr>
        <p:spPr>
          <a:xfrm>
            <a:off x="457200" y="342900"/>
            <a:ext cx="8707338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Desglose de Tareas Técnicas y Estado de Avance</a:t>
            </a:r>
            <a:endParaRPr/>
          </a:p>
        </p:txBody>
      </p:sp>
      <p:sp>
        <p:nvSpPr>
          <p:cNvPr id="195" name="Google Shape;195;p13"/>
          <p:cNvSpPr txBox="1"/>
          <p:nvPr/>
        </p:nvSpPr>
        <p:spPr>
          <a:xfrm>
            <a:off x="8286750" y="423862"/>
            <a:ext cx="39052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Proyecto Capstone APT 2026 | Fecha Actual: 06/10/2026</a:t>
            </a:r>
            <a:endParaRPr/>
          </a:p>
        </p:txBody>
      </p:sp>
      <p:sp>
        <p:nvSpPr>
          <p:cNvPr id="196" name="Google Shape;196;p13"/>
          <p:cNvSpPr txBox="1"/>
          <p:nvPr/>
        </p:nvSpPr>
        <p:spPr>
          <a:xfrm>
            <a:off x="571500" y="423862"/>
            <a:ext cx="547687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SLIDE 1</a:t>
            </a:r>
            <a:endParaRPr/>
          </a:p>
        </p:txBody>
      </p:sp>
      <p:sp>
        <p:nvSpPr>
          <p:cNvPr id="197" name="Google Shape;197;p13"/>
          <p:cNvSpPr txBox="1"/>
          <p:nvPr/>
        </p:nvSpPr>
        <p:spPr>
          <a:xfrm>
            <a:off x="895350" y="5867400"/>
            <a:ext cx="112966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Estado Global de Avance:</a:t>
            </a:r>
            <a:r>
              <a:rPr b="0" i="0" lang="en-US" sz="975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 0 tareas atrasadas al 6 de Octubre de 2026. Cumplimiento del 100% de hitos técnicos comprometidos para la Evaluación de Fase 2.</a:t>
            </a:r>
            <a:endParaRPr/>
          </a:p>
        </p:txBody>
      </p:sp>
      <p:sp>
        <p:nvSpPr>
          <p:cNvPr id="198" name="Google Shape;198;p13"/>
          <p:cNvSpPr txBox="1"/>
          <p:nvPr/>
        </p:nvSpPr>
        <p:spPr>
          <a:xfrm>
            <a:off x="638175" y="4400550"/>
            <a:ext cx="47625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Cronograma de Avance del Proyecto (Versión Reducida Gantt)</a:t>
            </a:r>
            <a:endParaRPr/>
          </a:p>
        </p:txBody>
      </p:sp>
      <p:sp>
        <p:nvSpPr>
          <p:cNvPr id="199" name="Google Shape;199;p13"/>
          <p:cNvSpPr txBox="1"/>
          <p:nvPr/>
        </p:nvSpPr>
        <p:spPr>
          <a:xfrm>
            <a:off x="9696450" y="4400550"/>
            <a:ext cx="2321718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rPr>
              <a:t>Línea de Hoy: 06 de Octubre</a:t>
            </a:r>
            <a:endParaRPr/>
          </a:p>
        </p:txBody>
      </p:sp>
      <p:sp>
        <p:nvSpPr>
          <p:cNvPr id="200" name="Google Shape;200;p13"/>
          <p:cNvSpPr txBox="1"/>
          <p:nvPr/>
        </p:nvSpPr>
        <p:spPr>
          <a:xfrm>
            <a:off x="6654849" y="4476750"/>
            <a:ext cx="723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HOY (06 Oct)</a:t>
            </a:r>
            <a:endParaRPr/>
          </a:p>
        </p:txBody>
      </p:sp>
      <p:sp>
        <p:nvSpPr>
          <p:cNvPr id="201" name="Google Shape;201;p13"/>
          <p:cNvSpPr txBox="1"/>
          <p:nvPr/>
        </p:nvSpPr>
        <p:spPr>
          <a:xfrm>
            <a:off x="2263378" y="4686300"/>
            <a:ext cx="1769268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Ago S3-S4</a:t>
            </a:r>
            <a:endParaRPr/>
          </a:p>
        </p:txBody>
      </p:sp>
      <p:sp>
        <p:nvSpPr>
          <p:cNvPr id="202" name="Google Shape;202;p13"/>
          <p:cNvSpPr txBox="1"/>
          <p:nvPr/>
        </p:nvSpPr>
        <p:spPr>
          <a:xfrm>
            <a:off x="3796903" y="4686300"/>
            <a:ext cx="1769268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Sep S1-S2</a:t>
            </a:r>
            <a:endParaRPr/>
          </a:p>
        </p:txBody>
      </p:sp>
      <p:sp>
        <p:nvSpPr>
          <p:cNvPr id="203" name="Google Shape;203;p13"/>
          <p:cNvSpPr txBox="1"/>
          <p:nvPr/>
        </p:nvSpPr>
        <p:spPr>
          <a:xfrm>
            <a:off x="5330428" y="4686300"/>
            <a:ext cx="1769268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Sep S3-S4</a:t>
            </a:r>
            <a:endParaRPr/>
          </a:p>
        </p:txBody>
      </p:sp>
      <p:sp>
        <p:nvSpPr>
          <p:cNvPr id="204" name="Google Shape;204;p13"/>
          <p:cNvSpPr txBox="1"/>
          <p:nvPr/>
        </p:nvSpPr>
        <p:spPr>
          <a:xfrm>
            <a:off x="6863953" y="4686300"/>
            <a:ext cx="1769268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Oct S1-S2</a:t>
            </a:r>
            <a:endParaRPr/>
          </a:p>
        </p:txBody>
      </p:sp>
      <p:sp>
        <p:nvSpPr>
          <p:cNvPr id="205" name="Google Shape;205;p13"/>
          <p:cNvSpPr txBox="1"/>
          <p:nvPr/>
        </p:nvSpPr>
        <p:spPr>
          <a:xfrm>
            <a:off x="8397478" y="4686300"/>
            <a:ext cx="1769268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Oct S3-S4</a:t>
            </a:r>
            <a:endParaRPr/>
          </a:p>
        </p:txBody>
      </p:sp>
      <p:sp>
        <p:nvSpPr>
          <p:cNvPr id="206" name="Google Shape;206;p13"/>
          <p:cNvSpPr txBox="1"/>
          <p:nvPr/>
        </p:nvSpPr>
        <p:spPr>
          <a:xfrm>
            <a:off x="9931003" y="4686300"/>
            <a:ext cx="1769268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Nov S1</a:t>
            </a:r>
            <a:endParaRPr/>
          </a:p>
        </p:txBody>
      </p:sp>
      <p:sp>
        <p:nvSpPr>
          <p:cNvPr id="207" name="Google Shape;207;p13"/>
          <p:cNvSpPr txBox="1"/>
          <p:nvPr/>
        </p:nvSpPr>
        <p:spPr>
          <a:xfrm>
            <a:off x="638175" y="4924425"/>
            <a:ext cx="214312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Fase 1: Redes &amp; VLANs</a:t>
            </a:r>
            <a:endParaRPr/>
          </a:p>
        </p:txBody>
      </p:sp>
      <p:sp>
        <p:nvSpPr>
          <p:cNvPr id="208" name="Google Shape;208;p13"/>
          <p:cNvSpPr txBox="1"/>
          <p:nvPr/>
        </p:nvSpPr>
        <p:spPr>
          <a:xfrm>
            <a:off x="638175" y="5124450"/>
            <a:ext cx="214312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Fase 2: IoT, Wokwi &amp; Alertas</a:t>
            </a:r>
            <a:endParaRPr/>
          </a:p>
        </p:txBody>
      </p:sp>
      <p:sp>
        <p:nvSpPr>
          <p:cNvPr id="209" name="Google Shape;209;p13"/>
          <p:cNvSpPr txBox="1"/>
          <p:nvPr/>
        </p:nvSpPr>
        <p:spPr>
          <a:xfrm>
            <a:off x="638175" y="5324475"/>
            <a:ext cx="214312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Fase 3: Hardware Físico</a:t>
            </a:r>
            <a:endParaRPr/>
          </a:p>
        </p:txBody>
      </p:sp>
      <p:sp>
        <p:nvSpPr>
          <p:cNvPr id="210" name="Google Shape;210;p13"/>
          <p:cNvSpPr txBox="1"/>
          <p:nvPr/>
        </p:nvSpPr>
        <p:spPr>
          <a:xfrm>
            <a:off x="8112918" y="1490662"/>
            <a:ext cx="77152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66534"/>
                </a:solidFill>
                <a:latin typeface="Inter"/>
                <a:ea typeface="Inter"/>
                <a:cs typeface="Inter"/>
                <a:sym typeface="Inter"/>
              </a:rPr>
              <a:t>Completada</a:t>
            </a:r>
            <a:endParaRPr/>
          </a:p>
        </p:txBody>
      </p:sp>
      <p:sp>
        <p:nvSpPr>
          <p:cNvPr id="211" name="Google Shape;211;p13"/>
          <p:cNvSpPr txBox="1"/>
          <p:nvPr/>
        </p:nvSpPr>
        <p:spPr>
          <a:xfrm>
            <a:off x="8112918" y="1957387"/>
            <a:ext cx="77152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66534"/>
                </a:solidFill>
                <a:latin typeface="Inter"/>
                <a:ea typeface="Inter"/>
                <a:cs typeface="Inter"/>
                <a:sym typeface="Inter"/>
              </a:rPr>
              <a:t>Completada</a:t>
            </a:r>
            <a:endParaRPr/>
          </a:p>
        </p:txBody>
      </p:sp>
      <p:sp>
        <p:nvSpPr>
          <p:cNvPr id="212" name="Google Shape;212;p13"/>
          <p:cNvSpPr txBox="1"/>
          <p:nvPr/>
        </p:nvSpPr>
        <p:spPr>
          <a:xfrm>
            <a:off x="8112918" y="2443162"/>
            <a:ext cx="77152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66534"/>
                </a:solidFill>
                <a:latin typeface="Inter"/>
                <a:ea typeface="Inter"/>
                <a:cs typeface="Inter"/>
                <a:sym typeface="Inter"/>
              </a:rPr>
              <a:t>Completada</a:t>
            </a:r>
            <a:endParaRPr/>
          </a:p>
        </p:txBody>
      </p:sp>
      <p:sp>
        <p:nvSpPr>
          <p:cNvPr id="213" name="Google Shape;213;p13"/>
          <p:cNvSpPr txBox="1"/>
          <p:nvPr/>
        </p:nvSpPr>
        <p:spPr>
          <a:xfrm>
            <a:off x="8112918" y="2909887"/>
            <a:ext cx="77152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66534"/>
                </a:solidFill>
                <a:latin typeface="Inter"/>
                <a:ea typeface="Inter"/>
                <a:cs typeface="Inter"/>
                <a:sym typeface="Inter"/>
              </a:rPr>
              <a:t>Completada</a:t>
            </a:r>
            <a:endParaRPr/>
          </a:p>
        </p:txBody>
      </p:sp>
      <p:sp>
        <p:nvSpPr>
          <p:cNvPr id="214" name="Google Shape;214;p13"/>
          <p:cNvSpPr txBox="1"/>
          <p:nvPr/>
        </p:nvSpPr>
        <p:spPr>
          <a:xfrm>
            <a:off x="8112918" y="3357562"/>
            <a:ext cx="59055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A tiempo</a:t>
            </a:r>
            <a:endParaRPr/>
          </a:p>
        </p:txBody>
      </p:sp>
      <p:sp>
        <p:nvSpPr>
          <p:cNvPr id="215" name="Google Shape;215;p13"/>
          <p:cNvSpPr txBox="1"/>
          <p:nvPr/>
        </p:nvSpPr>
        <p:spPr>
          <a:xfrm>
            <a:off x="8112918" y="3805237"/>
            <a:ext cx="59055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A tiempo</a:t>
            </a:r>
            <a:endParaRPr/>
          </a:p>
        </p:txBody>
      </p:sp>
      <p:sp>
        <p:nvSpPr>
          <p:cNvPr id="216" name="Google Shape;216;p13"/>
          <p:cNvSpPr/>
          <p:nvPr/>
        </p:nvSpPr>
        <p:spPr>
          <a:xfrm>
            <a:off x="6969174" y="4648200"/>
            <a:ext cx="19050" cy="81915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1" name="Google Shape;22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14"/>
          <p:cNvSpPr/>
          <p:nvPr/>
        </p:nvSpPr>
        <p:spPr>
          <a:xfrm>
            <a:off x="457200" y="385762"/>
            <a:ext cx="709612" cy="228600"/>
          </a:xfrm>
          <a:prstGeom prst="roundRect">
            <a:avLst>
              <a:gd fmla="val 50000" name="adj"/>
            </a:avLst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4"/>
          <p:cNvSpPr/>
          <p:nvPr/>
        </p:nvSpPr>
        <p:spPr>
          <a:xfrm>
            <a:off x="2931318" y="985837"/>
            <a:ext cx="9525" cy="357187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4"/>
          <p:cNvSpPr/>
          <p:nvPr/>
        </p:nvSpPr>
        <p:spPr>
          <a:xfrm>
            <a:off x="6311651" y="985837"/>
            <a:ext cx="9525" cy="357187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4"/>
          <p:cNvSpPr/>
          <p:nvPr/>
        </p:nvSpPr>
        <p:spPr>
          <a:xfrm>
            <a:off x="10029973" y="985837"/>
            <a:ext cx="9525" cy="357187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4"/>
          <p:cNvSpPr/>
          <p:nvPr/>
        </p:nvSpPr>
        <p:spPr>
          <a:xfrm>
            <a:off x="461962" y="1814512"/>
            <a:ext cx="247888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4"/>
          <p:cNvSpPr/>
          <p:nvPr/>
        </p:nvSpPr>
        <p:spPr>
          <a:xfrm>
            <a:off x="2931318" y="1343025"/>
            <a:ext cx="9525" cy="48101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4"/>
          <p:cNvSpPr/>
          <p:nvPr/>
        </p:nvSpPr>
        <p:spPr>
          <a:xfrm>
            <a:off x="2940843" y="1814512"/>
            <a:ext cx="338033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4"/>
          <p:cNvSpPr/>
          <p:nvPr/>
        </p:nvSpPr>
        <p:spPr>
          <a:xfrm>
            <a:off x="6311651" y="1343025"/>
            <a:ext cx="9525" cy="48101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4"/>
          <p:cNvSpPr/>
          <p:nvPr/>
        </p:nvSpPr>
        <p:spPr>
          <a:xfrm>
            <a:off x="6321176" y="1814512"/>
            <a:ext cx="371832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4"/>
          <p:cNvSpPr/>
          <p:nvPr/>
        </p:nvSpPr>
        <p:spPr>
          <a:xfrm>
            <a:off x="10029973" y="1343025"/>
            <a:ext cx="9525" cy="48101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4"/>
          <p:cNvSpPr/>
          <p:nvPr/>
        </p:nvSpPr>
        <p:spPr>
          <a:xfrm>
            <a:off x="10039498" y="1814512"/>
            <a:ext cx="169053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4"/>
          <p:cNvSpPr/>
          <p:nvPr/>
        </p:nvSpPr>
        <p:spPr>
          <a:xfrm>
            <a:off x="11720512" y="1343025"/>
            <a:ext cx="9525" cy="48101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4"/>
          <p:cNvSpPr/>
          <p:nvPr/>
        </p:nvSpPr>
        <p:spPr>
          <a:xfrm>
            <a:off x="461962" y="2300287"/>
            <a:ext cx="247888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4"/>
          <p:cNvSpPr/>
          <p:nvPr/>
        </p:nvSpPr>
        <p:spPr>
          <a:xfrm>
            <a:off x="2931318" y="1824037"/>
            <a:ext cx="9525" cy="4857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4"/>
          <p:cNvSpPr/>
          <p:nvPr/>
        </p:nvSpPr>
        <p:spPr>
          <a:xfrm>
            <a:off x="2940843" y="2300287"/>
            <a:ext cx="338033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4"/>
          <p:cNvSpPr/>
          <p:nvPr/>
        </p:nvSpPr>
        <p:spPr>
          <a:xfrm>
            <a:off x="6311651" y="1824037"/>
            <a:ext cx="9525" cy="4857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4"/>
          <p:cNvSpPr/>
          <p:nvPr/>
        </p:nvSpPr>
        <p:spPr>
          <a:xfrm>
            <a:off x="6321176" y="2300287"/>
            <a:ext cx="371832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4"/>
          <p:cNvSpPr/>
          <p:nvPr/>
        </p:nvSpPr>
        <p:spPr>
          <a:xfrm>
            <a:off x="10029973" y="1824037"/>
            <a:ext cx="9525" cy="4857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4"/>
          <p:cNvSpPr/>
          <p:nvPr/>
        </p:nvSpPr>
        <p:spPr>
          <a:xfrm>
            <a:off x="10039498" y="2300287"/>
            <a:ext cx="169053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4"/>
          <p:cNvSpPr/>
          <p:nvPr/>
        </p:nvSpPr>
        <p:spPr>
          <a:xfrm>
            <a:off x="11720512" y="1824037"/>
            <a:ext cx="9525" cy="4857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4"/>
          <p:cNvSpPr/>
          <p:nvPr/>
        </p:nvSpPr>
        <p:spPr>
          <a:xfrm>
            <a:off x="461962" y="2786062"/>
            <a:ext cx="247888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4"/>
          <p:cNvSpPr/>
          <p:nvPr/>
        </p:nvSpPr>
        <p:spPr>
          <a:xfrm>
            <a:off x="2931318" y="2309812"/>
            <a:ext cx="9525" cy="4857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4"/>
          <p:cNvSpPr/>
          <p:nvPr/>
        </p:nvSpPr>
        <p:spPr>
          <a:xfrm>
            <a:off x="2940843" y="2786062"/>
            <a:ext cx="338033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4"/>
          <p:cNvSpPr/>
          <p:nvPr/>
        </p:nvSpPr>
        <p:spPr>
          <a:xfrm>
            <a:off x="6311651" y="2309812"/>
            <a:ext cx="9525" cy="4857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4"/>
          <p:cNvSpPr/>
          <p:nvPr/>
        </p:nvSpPr>
        <p:spPr>
          <a:xfrm>
            <a:off x="6321176" y="2786062"/>
            <a:ext cx="371832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4"/>
          <p:cNvSpPr/>
          <p:nvPr/>
        </p:nvSpPr>
        <p:spPr>
          <a:xfrm>
            <a:off x="10029973" y="2309812"/>
            <a:ext cx="9525" cy="4857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4"/>
          <p:cNvSpPr/>
          <p:nvPr/>
        </p:nvSpPr>
        <p:spPr>
          <a:xfrm>
            <a:off x="10039498" y="2786062"/>
            <a:ext cx="169053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4"/>
          <p:cNvSpPr/>
          <p:nvPr/>
        </p:nvSpPr>
        <p:spPr>
          <a:xfrm>
            <a:off x="11720512" y="2309812"/>
            <a:ext cx="9525" cy="4857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4"/>
          <p:cNvSpPr/>
          <p:nvPr/>
        </p:nvSpPr>
        <p:spPr>
          <a:xfrm>
            <a:off x="2931318" y="2795587"/>
            <a:ext cx="9525" cy="4857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4"/>
          <p:cNvSpPr/>
          <p:nvPr/>
        </p:nvSpPr>
        <p:spPr>
          <a:xfrm>
            <a:off x="6311651" y="2795587"/>
            <a:ext cx="9525" cy="4857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4"/>
          <p:cNvSpPr/>
          <p:nvPr/>
        </p:nvSpPr>
        <p:spPr>
          <a:xfrm>
            <a:off x="10029973" y="2795587"/>
            <a:ext cx="9525" cy="4857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4"/>
          <p:cNvSpPr/>
          <p:nvPr/>
        </p:nvSpPr>
        <p:spPr>
          <a:xfrm>
            <a:off x="11720512" y="2795587"/>
            <a:ext cx="9525" cy="4857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4"/>
          <p:cNvSpPr/>
          <p:nvPr/>
        </p:nvSpPr>
        <p:spPr>
          <a:xfrm>
            <a:off x="457200" y="3790950"/>
            <a:ext cx="5562600" cy="1043285"/>
          </a:xfrm>
          <a:prstGeom prst="roundRect">
            <a:avLst>
              <a:gd fmla="val 7303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4"/>
          <p:cNvSpPr/>
          <p:nvPr/>
        </p:nvSpPr>
        <p:spPr>
          <a:xfrm>
            <a:off x="6172200" y="3790950"/>
            <a:ext cx="5562600" cy="1043285"/>
          </a:xfrm>
          <a:prstGeom prst="roundRect">
            <a:avLst>
              <a:gd fmla="val 7303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56" name="Google Shape;25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" y="3519487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7" name="Google Shape;257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0075" y="3952875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8" name="Google Shape;258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15075" y="3952875"/>
            <a:ext cx="133350" cy="1333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59" name="Google Shape;259;p14"/>
          <p:cNvGraphicFramePr/>
          <p:nvPr/>
        </p:nvGraphicFramePr>
        <p:xfrm>
          <a:off x="457200" y="981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{B803955E-68C0-4E9F-8D42-C75F7A7BFA07}</a:tableStyleId>
              </a:tblPr>
              <a:tblGrid>
                <a:gridCol w="2478875"/>
                <a:gridCol w="3380325"/>
                <a:gridCol w="3718325"/>
                <a:gridCol w="1690550"/>
              </a:tblGrid>
              <a:tr h="461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12" u="none" cap="none" strike="noStrike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Entregable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12" u="none" cap="none" strike="noStrike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Tareas Asociadas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12" u="none" cap="none" strike="noStrike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Criterio de Aceptación Medible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12" u="none" cap="none" strike="noStrike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Fecha Comp.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461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12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E1: Topología de Red Segura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Segmentación VLANs, ACLs en Router0, filtrado de puertos.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Aislamiento 100% entre IoT (VLAN 50) y Corp. Latencia &lt; 50 ms.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15/09/2026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61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12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E2: Módulo Sensado IoT (Wokwi)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Programación ESP32, lectura potenciómetro (mm), cliente MQTT.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Publicación continua JSON a broker con error de lectura &lt; 1%.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25/09/2026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61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12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E3: Servidor Linux &amp; Telemetría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Broker Mosquitto, Script Python, Ingesta InfluxDB, Grafana.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Procesamiento e ingesta de datos en &lt; 300 ms sin pérdida de paquetes.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02/10/2026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61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12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E4: Sistema de Alertas Telegram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Webhook API Telegram, reglas de umbral crítico (&gt; 4.5 mm).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Notificación push en smartphone del NOC en &lt; 1 segundo tras el disparo.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05/10/2026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260" name="Google Shape;260;p14"/>
          <p:cNvSpPr txBox="1"/>
          <p:nvPr/>
        </p:nvSpPr>
        <p:spPr>
          <a:xfrm>
            <a:off x="457200" y="342900"/>
            <a:ext cx="8219777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Entregables del Proyecto y Criterios de Éxito</a:t>
            </a:r>
            <a:endParaRPr/>
          </a:p>
        </p:txBody>
      </p:sp>
      <p:sp>
        <p:nvSpPr>
          <p:cNvPr id="261" name="Google Shape;261;p14"/>
          <p:cNvSpPr txBox="1"/>
          <p:nvPr/>
        </p:nvSpPr>
        <p:spPr>
          <a:xfrm>
            <a:off x="8248650" y="423862"/>
            <a:ext cx="39433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Proyecto Capstone APT 2026 | Matriz de Calidad y Ajustes</a:t>
            </a:r>
            <a:endParaRPr/>
          </a:p>
        </p:txBody>
      </p:sp>
      <p:sp>
        <p:nvSpPr>
          <p:cNvPr id="262" name="Google Shape;262;p14"/>
          <p:cNvSpPr txBox="1"/>
          <p:nvPr/>
        </p:nvSpPr>
        <p:spPr>
          <a:xfrm>
            <a:off x="571500" y="423862"/>
            <a:ext cx="576262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SLIDE 2</a:t>
            </a:r>
            <a:endParaRPr/>
          </a:p>
        </p:txBody>
      </p:sp>
      <p:sp>
        <p:nvSpPr>
          <p:cNvPr id="263" name="Google Shape;263;p14"/>
          <p:cNvSpPr txBox="1"/>
          <p:nvPr/>
        </p:nvSpPr>
        <p:spPr>
          <a:xfrm>
            <a:off x="685800" y="3495675"/>
            <a:ext cx="115062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Ajustes del Proyecto desde la Fase 1, Obstáculos y Justificaciones</a:t>
            </a:r>
            <a:endParaRPr/>
          </a:p>
        </p:txBody>
      </p:sp>
      <p:sp>
        <p:nvSpPr>
          <p:cNvPr id="264" name="Google Shape;264;p14"/>
          <p:cNvSpPr txBox="1"/>
          <p:nvPr/>
        </p:nvSpPr>
        <p:spPr>
          <a:xfrm>
            <a:off x="600075" y="3933825"/>
            <a:ext cx="692586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Ajuste 1: Simulación Virtual Previas a Hardware</a:t>
            </a:r>
            <a:endParaRPr/>
          </a:p>
        </p:txBody>
      </p:sp>
      <p:sp>
        <p:nvSpPr>
          <p:cNvPr id="265" name="Google Shape;265;p14"/>
          <p:cNvSpPr txBox="1"/>
          <p:nvPr/>
        </p:nvSpPr>
        <p:spPr>
          <a:xfrm>
            <a:off x="600075" y="4152900"/>
            <a:ext cx="5372100" cy="538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8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Cambio:</a:t>
            </a: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Implementación de entorno de simulación Wokwi antes del armado físico.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Justificación:</a:t>
            </a: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Permitió validar la arquitectura MQTT y el código C++/Python a costo cero, mitigando riesgos de fallas mecánicas en componentes.</a:t>
            </a:r>
            <a:endParaRPr/>
          </a:p>
        </p:txBody>
      </p:sp>
      <p:sp>
        <p:nvSpPr>
          <p:cNvPr id="266" name="Google Shape;266;p14"/>
          <p:cNvSpPr txBox="1"/>
          <p:nvPr/>
        </p:nvSpPr>
        <p:spPr>
          <a:xfrm>
            <a:off x="6315075" y="3933825"/>
            <a:ext cx="58769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33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Obstáculo &amp; Ajuste 2: Seguridad en Broker</a:t>
            </a:r>
            <a:endParaRPr/>
          </a:p>
        </p:txBody>
      </p:sp>
      <p:sp>
        <p:nvSpPr>
          <p:cNvPr id="267" name="Google Shape;267;p14"/>
          <p:cNvSpPr txBox="1"/>
          <p:nvPr/>
        </p:nvSpPr>
        <p:spPr>
          <a:xfrm>
            <a:off x="6315075" y="4152900"/>
            <a:ext cx="5372100" cy="538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8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Obstáculo:</a:t>
            </a: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Bloqueo de tráfico por politicas restrictivas en firewall inicial.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Justificación:</a:t>
            </a: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Se configuraron reglas ACL extendidas específicas por puerto TCP 1883/8883, manteniendo la seguridad sin degradar el tiempo de respuesta.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2" name="Google Shape;27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15"/>
          <p:cNvSpPr/>
          <p:nvPr/>
        </p:nvSpPr>
        <p:spPr>
          <a:xfrm>
            <a:off x="457200" y="981075"/>
            <a:ext cx="11277600" cy="609600"/>
          </a:xfrm>
          <a:prstGeom prst="roundRect">
            <a:avLst>
              <a:gd fmla="val 12500" name="adj"/>
            </a:avLst>
          </a:prstGeom>
          <a:solidFill>
            <a:srgbClr val="1720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5"/>
          <p:cNvSpPr/>
          <p:nvPr/>
        </p:nvSpPr>
        <p:spPr>
          <a:xfrm>
            <a:off x="457200" y="385762"/>
            <a:ext cx="709612" cy="228600"/>
          </a:xfrm>
          <a:prstGeom prst="roundRect">
            <a:avLst>
              <a:gd fmla="val 50000" name="adj"/>
            </a:avLst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5"/>
          <p:cNvSpPr/>
          <p:nvPr/>
        </p:nvSpPr>
        <p:spPr>
          <a:xfrm>
            <a:off x="10242351" y="1104900"/>
            <a:ext cx="1320998" cy="361950"/>
          </a:xfrm>
          <a:prstGeom prst="roundRect">
            <a:avLst>
              <a:gd fmla="val 31578" name="adj"/>
            </a:avLst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5"/>
          <p:cNvSpPr/>
          <p:nvPr/>
        </p:nvSpPr>
        <p:spPr>
          <a:xfrm>
            <a:off x="457200" y="1743075"/>
            <a:ext cx="11277600" cy="1295400"/>
          </a:xfrm>
          <a:prstGeom prst="roundRect">
            <a:avLst>
              <a:gd fmla="val 5882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5"/>
          <p:cNvSpPr/>
          <p:nvPr/>
        </p:nvSpPr>
        <p:spPr>
          <a:xfrm>
            <a:off x="457200" y="3133725"/>
            <a:ext cx="11277600" cy="1295400"/>
          </a:xfrm>
          <a:prstGeom prst="roundRect">
            <a:avLst>
              <a:gd fmla="val 5882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5"/>
          <p:cNvSpPr/>
          <p:nvPr/>
        </p:nvSpPr>
        <p:spPr>
          <a:xfrm>
            <a:off x="457200" y="4524375"/>
            <a:ext cx="11277600" cy="1295400"/>
          </a:xfrm>
          <a:prstGeom prst="roundRect">
            <a:avLst>
              <a:gd fmla="val 5882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79" name="Google Shape;27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9125" y="6143625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0" name="Google Shape;280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496425" y="1866900"/>
            <a:ext cx="2095500" cy="1047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1" name="Google Shape;281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" y="1123950"/>
            <a:ext cx="1809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15"/>
          <p:cNvSpPr txBox="1"/>
          <p:nvPr/>
        </p:nvSpPr>
        <p:spPr>
          <a:xfrm>
            <a:off x="457200" y="342900"/>
            <a:ext cx="6644580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Simulación y Evidencias de Avance</a:t>
            </a:r>
            <a:endParaRPr/>
          </a:p>
        </p:txBody>
      </p:sp>
      <p:sp>
        <p:nvSpPr>
          <p:cNvPr id="283" name="Google Shape;283;p15"/>
          <p:cNvSpPr txBox="1"/>
          <p:nvPr/>
        </p:nvSpPr>
        <p:spPr>
          <a:xfrm>
            <a:off x="8448675" y="423862"/>
            <a:ext cx="37433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Proyecto Capstone APT 2026 | Pruebas de Verificación</a:t>
            </a:r>
            <a:endParaRPr/>
          </a:p>
        </p:txBody>
      </p:sp>
      <p:sp>
        <p:nvSpPr>
          <p:cNvPr id="284" name="Google Shape;284;p15"/>
          <p:cNvSpPr txBox="1"/>
          <p:nvPr/>
        </p:nvSpPr>
        <p:spPr>
          <a:xfrm>
            <a:off x="571500" y="423862"/>
            <a:ext cx="576262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SLIDE 3</a:t>
            </a:r>
            <a:endParaRPr/>
          </a:p>
        </p:txBody>
      </p:sp>
      <p:sp>
        <p:nvSpPr>
          <p:cNvPr id="285" name="Google Shape;285;p15"/>
          <p:cNvSpPr txBox="1"/>
          <p:nvPr/>
        </p:nvSpPr>
        <p:spPr>
          <a:xfrm>
            <a:off x="628650" y="1095375"/>
            <a:ext cx="9708951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384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 Escenario Simulados &amp; Herramientas: </a:t>
            </a:r>
            <a:r>
              <a:rPr b="1" i="0" lang="en-US" sz="1012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Wokwi (ESP32/MQTT) + Servidor Kali Linux (Mosquitto/Python/InfluxDB) + Packet Tracer (VLANs/ACLs) + Telegram API</a:t>
            </a:r>
            <a:endParaRPr/>
          </a:p>
        </p:txBody>
      </p:sp>
      <p:sp>
        <p:nvSpPr>
          <p:cNvPr id="286" name="Google Shape;286;p15"/>
          <p:cNvSpPr txBox="1"/>
          <p:nvPr/>
        </p:nvSpPr>
        <p:spPr>
          <a:xfrm>
            <a:off x="10337601" y="1143000"/>
            <a:ext cx="1225748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3 Pruebas Ejecutadas</a:t>
            </a:r>
            <a:endParaRPr/>
          </a:p>
        </p:txBody>
      </p:sp>
      <p:sp>
        <p:nvSpPr>
          <p:cNvPr id="287" name="Google Shape;287;p15"/>
          <p:cNvSpPr txBox="1"/>
          <p:nvPr/>
        </p:nvSpPr>
        <p:spPr>
          <a:xfrm>
            <a:off x="600075" y="2021383"/>
            <a:ext cx="10929937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Prueba 1: Sensado IoT y Publicación Telemetría (Wokwi)</a:t>
            </a:r>
            <a:endParaRPr/>
          </a:p>
        </p:txBody>
      </p:sp>
      <p:sp>
        <p:nvSpPr>
          <p:cNvPr id="288" name="Google Shape;288;p15"/>
          <p:cNvSpPr txBox="1"/>
          <p:nvPr/>
        </p:nvSpPr>
        <p:spPr>
          <a:xfrm>
            <a:off x="600075" y="2240458"/>
            <a:ext cx="8839200" cy="5197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57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Prueba Realizada:</a:t>
            </a:r>
            <a:r>
              <a:rPr b="0" i="0" lang="en-US" sz="9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Variación manual del potenciómetro simulando apertura de fisura en Wokwi.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9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Resultado Esperado:</a:t>
            </a:r>
            <a:r>
              <a:rPr b="0" i="0" lang="en-US" sz="9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Captura de lectura en mm y generación de payload JSON vía MQTT.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9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Resultado Obtenido:</a:t>
            </a:r>
            <a:r>
              <a:rPr b="0" i="0" lang="en-US" sz="9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Publicación exitosa continua con latencia &lt; 200 ms hacia el broker.</a:t>
            </a:r>
            <a:endParaRPr/>
          </a:p>
        </p:txBody>
      </p:sp>
      <p:sp>
        <p:nvSpPr>
          <p:cNvPr id="289" name="Google Shape;289;p15"/>
          <p:cNvSpPr txBox="1"/>
          <p:nvPr/>
        </p:nvSpPr>
        <p:spPr>
          <a:xfrm>
            <a:off x="600075" y="3412033"/>
            <a:ext cx="10929937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Prueba 2: Ingesta Linux y Detección de Umbral Crítico</a:t>
            </a:r>
            <a:endParaRPr/>
          </a:p>
        </p:txBody>
      </p:sp>
      <p:sp>
        <p:nvSpPr>
          <p:cNvPr id="290" name="Google Shape;290;p15"/>
          <p:cNvSpPr txBox="1"/>
          <p:nvPr/>
        </p:nvSpPr>
        <p:spPr>
          <a:xfrm>
            <a:off x="600075" y="3631108"/>
            <a:ext cx="8839200" cy="5197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57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Prueba Realizada:</a:t>
            </a:r>
            <a:r>
              <a:rPr b="0" i="0" lang="en-US" sz="9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Procesamiento en consola Linux de lecturas recibidas superando 4.5 mm.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9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Resultado Esperado:</a:t>
            </a:r>
            <a:r>
              <a:rPr b="0" i="0" lang="en-US" sz="9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Identificación de condición de riesgo y activación del disparador de alerta.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9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Resultado Obtenido:</a:t>
            </a:r>
            <a:r>
              <a:rPr b="0" i="0" lang="en-US" sz="9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Script Python detecta umbral crítico e inicia evento en tiempo real (&lt; 300 ms).</a:t>
            </a:r>
            <a:endParaRPr/>
          </a:p>
        </p:txBody>
      </p:sp>
      <p:sp>
        <p:nvSpPr>
          <p:cNvPr id="291" name="Google Shape;291;p15"/>
          <p:cNvSpPr txBox="1"/>
          <p:nvPr/>
        </p:nvSpPr>
        <p:spPr>
          <a:xfrm>
            <a:off x="600075" y="4802683"/>
            <a:ext cx="10929937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Prueba 3: Disparo de Alerta Push en Telegram Bot</a:t>
            </a:r>
            <a:endParaRPr/>
          </a:p>
        </p:txBody>
      </p:sp>
      <p:sp>
        <p:nvSpPr>
          <p:cNvPr id="292" name="Google Shape;292;p15"/>
          <p:cNvSpPr txBox="1"/>
          <p:nvPr/>
        </p:nvSpPr>
        <p:spPr>
          <a:xfrm>
            <a:off x="600075" y="5021758"/>
            <a:ext cx="8839200" cy="5197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57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Prueba Realizada:</a:t>
            </a:r>
            <a:r>
              <a:rPr b="0" i="0" lang="en-US" sz="9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Envío automático de notificación push tras detección de fisura de 4.5 mm.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9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Resultado Esperado:</a:t>
            </a:r>
            <a:r>
              <a:rPr b="0" i="0" lang="en-US" sz="9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Mensaje en canal Telegram con ID de sensor, mm y orden de inspección.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9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Resultado Obtenido:</a:t>
            </a:r>
            <a:r>
              <a:rPr b="0" i="0" lang="en-US" sz="9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Recepción instantánea (&lt; 800 ms) de alerta visual en dispositivo móvil.</a:t>
            </a:r>
            <a:endParaRPr/>
          </a:p>
        </p:txBody>
      </p:sp>
      <p:pic>
        <p:nvPicPr>
          <p:cNvPr id="293" name="Google Shape;293;p15" title="Captura de pantalla 2026-09-26 233216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575050" y="1743075"/>
            <a:ext cx="3159749" cy="1390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15" title="Captura de pantalla 2026-09-26 233233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575050" y="3133725"/>
            <a:ext cx="3159750" cy="129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15" title="Captura de pantalla 2026-09-26 233243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575050" y="4424375"/>
            <a:ext cx="3159751" cy="1390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