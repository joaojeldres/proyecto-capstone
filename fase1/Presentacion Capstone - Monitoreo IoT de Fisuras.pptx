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Plus Jakarta Sans ExtraBold"/>
      <p:bold r:id="rId21"/>
      <p:boldItalic r:id="rId22"/>
    </p:embeddedFont>
    <p:embeddedFont>
      <p:font typeface="Inter SemiBold"/>
      <p:regular r:id="rId23"/>
      <p:bold r:id="rId24"/>
      <p:italic r:id="rId25"/>
      <p:boldItalic r:id="rId26"/>
    </p:embeddedFont>
    <p:embeddedFont>
      <p:font typeface="Inter"/>
      <p:regular r:id="rId27"/>
      <p:bold r:id="rId28"/>
      <p:italic r:id="rId29"/>
      <p:boldItalic r:id="rId30"/>
    </p:embeddedFont>
    <p:embeddedFont>
      <p:font typeface="Plus Jakarta Sans"/>
      <p:regular r:id="rId31"/>
      <p:bold r:id="rId32"/>
      <p:italic r:id="rId33"/>
      <p:boldItalic r:id="rId34"/>
    </p:embeddedFont>
    <p:embeddedFont>
      <p:font typeface="Plus Jakarta Sans SemiBold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9" roundtripDataSignature="AMtx7mj6tThfszSXg6aaJhgOD+QTODpe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D18C2F-94C1-4707-B708-7C4D634A65D5}">
  <a:tblStyle styleId="{D4D18C2F-94C1-4707-B708-7C4D634A65D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106D9C70-63D3-42C5-8133-0D02711F718D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lusJakartaSansExtraBold-boldItalic.fntdata"/><Relationship Id="rId21" Type="http://schemas.openxmlformats.org/officeDocument/2006/relationships/font" Target="fonts/PlusJakartaSansExtraBold-bold.fntdata"/><Relationship Id="rId24" Type="http://schemas.openxmlformats.org/officeDocument/2006/relationships/font" Target="fonts/InterSemiBold-bold.fntdata"/><Relationship Id="rId23" Type="http://schemas.openxmlformats.org/officeDocument/2006/relationships/font" Target="fonts/Inter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SemiBold-boldItalic.fntdata"/><Relationship Id="rId25" Type="http://schemas.openxmlformats.org/officeDocument/2006/relationships/font" Target="fonts/InterSemiBold-italic.fntdata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usJakartaSans-regular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5.xml"/><Relationship Id="rId33" Type="http://schemas.openxmlformats.org/officeDocument/2006/relationships/font" Target="fonts/PlusJakartaSans-italic.fntdata"/><Relationship Id="rId10" Type="http://schemas.openxmlformats.org/officeDocument/2006/relationships/slide" Target="slides/slide4.xml"/><Relationship Id="rId32" Type="http://schemas.openxmlformats.org/officeDocument/2006/relationships/font" Target="fonts/PlusJakartaSans-bold.fntdata"/><Relationship Id="rId13" Type="http://schemas.openxmlformats.org/officeDocument/2006/relationships/slide" Target="slides/slide7.xml"/><Relationship Id="rId35" Type="http://schemas.openxmlformats.org/officeDocument/2006/relationships/font" Target="fonts/PlusJakartaSansSemiBold-regular.fntdata"/><Relationship Id="rId12" Type="http://schemas.openxmlformats.org/officeDocument/2006/relationships/slide" Target="slides/slide6.xml"/><Relationship Id="rId34" Type="http://schemas.openxmlformats.org/officeDocument/2006/relationships/font" Target="fonts/PlusJakartaSans-boldItalic.fntdata"/><Relationship Id="rId15" Type="http://schemas.openxmlformats.org/officeDocument/2006/relationships/slide" Target="slides/slide9.xml"/><Relationship Id="rId37" Type="http://schemas.openxmlformats.org/officeDocument/2006/relationships/font" Target="fonts/PlusJakartaSansSemiBold-italic.fntdata"/><Relationship Id="rId14" Type="http://schemas.openxmlformats.org/officeDocument/2006/relationships/slide" Target="slides/slide8.xml"/><Relationship Id="rId36" Type="http://schemas.openxmlformats.org/officeDocument/2006/relationships/font" Target="fonts/PlusJakartaSansSemiBold-bold.fntdata"/><Relationship Id="rId17" Type="http://schemas.openxmlformats.org/officeDocument/2006/relationships/slide" Target="slides/slide11.xml"/><Relationship Id="rId39" Type="http://customschemas.google.com/relationships/presentationmetadata" Target="metadata"/><Relationship Id="rId16" Type="http://schemas.openxmlformats.org/officeDocument/2006/relationships/slide" Target="slides/slide10.xml"/><Relationship Id="rId38" Type="http://schemas.openxmlformats.org/officeDocument/2006/relationships/font" Target="fonts/PlusJakartaSansSemiBold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8b700aa78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f8b700aa7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f8b700aa78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f8b700aa7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png"/><Relationship Id="rId10" Type="http://schemas.openxmlformats.org/officeDocument/2006/relationships/image" Target="../media/image5.png"/><Relationship Id="rId13" Type="http://schemas.openxmlformats.org/officeDocument/2006/relationships/image" Target="../media/image14.png"/><Relationship Id="rId1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1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6.png"/><Relationship Id="rId6" Type="http://schemas.openxmlformats.org/officeDocument/2006/relationships/image" Target="../media/image2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25.png"/><Relationship Id="rId5" Type="http://schemas.openxmlformats.org/officeDocument/2006/relationships/image" Target="../media/image15.png"/><Relationship Id="rId6" Type="http://schemas.openxmlformats.org/officeDocument/2006/relationships/image" Target="../media/image21.png"/><Relationship Id="rId7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20.png"/><Relationship Id="rId6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24.png"/><Relationship Id="rId9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31.png"/><Relationship Id="rId8" Type="http://schemas.openxmlformats.org/officeDocument/2006/relationships/image" Target="../media/image3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30.png"/><Relationship Id="rId9" Type="http://schemas.openxmlformats.org/officeDocument/2006/relationships/image" Target="../media/image39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image" Target="../media/image35.png"/><Relationship Id="rId8" Type="http://schemas.openxmlformats.org/officeDocument/2006/relationships/image" Target="../media/image3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44.png"/><Relationship Id="rId5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41.png"/><Relationship Id="rId5" Type="http://schemas.openxmlformats.org/officeDocument/2006/relationships/image" Target="../media/image40.png"/><Relationship Id="rId6" Type="http://schemas.openxmlformats.org/officeDocument/2006/relationships/image" Target="../media/image38.png"/><Relationship Id="rId7" Type="http://schemas.openxmlformats.org/officeDocument/2006/relationships/image" Target="../media/image4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42.png"/><Relationship Id="rId5" Type="http://schemas.openxmlformats.org/officeDocument/2006/relationships/image" Target="../media/image48.png"/><Relationship Id="rId6" Type="http://schemas.openxmlformats.org/officeDocument/2006/relationships/image" Target="../media/image43.png"/><Relationship Id="rId7" Type="http://schemas.openxmlformats.org/officeDocument/2006/relationships/image" Target="../media/image47.png"/><Relationship Id="rId8" Type="http://schemas.openxmlformats.org/officeDocument/2006/relationships/image" Target="../media/image4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0687" y="4150369"/>
            <a:ext cx="8810625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345406" y="2202805"/>
            <a:ext cx="9501187" cy="1051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5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Sistema IoT de Monitoreo y Detección Temprana de Fisuras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2819400" y="3444626"/>
            <a:ext cx="6553200" cy="324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Infraestructura de Red Segura y Supervisión Centralizada (NOC)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2005012" y="4312294"/>
            <a:ext cx="3971925" cy="173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Integrantes:</a:t>
            </a: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Fracianna Aro | Joao Jeldres | Néstor Navarro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6357937" y="4312294"/>
            <a:ext cx="17621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Docente:</a:t>
            </a: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Claudia Reinoso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8501062" y="4312294"/>
            <a:ext cx="16859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Proyecto:</a:t>
            </a: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Capstone APT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90787"/>
            <a:ext cx="259080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90900" y="2490787"/>
            <a:ext cx="259080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0300" y="2490787"/>
            <a:ext cx="259080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29700" y="2490787"/>
            <a:ext cx="259080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7725" y="276701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/>
          <p:nvPr/>
        </p:nvSpPr>
        <p:spPr>
          <a:xfrm>
            <a:off x="847725" y="3490912"/>
            <a:ext cx="214026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Contexto &amp; Problema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847725" y="4062412"/>
            <a:ext cx="20383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Problemática sísmica local en Puente Alto y la brecha de ciberseguridad en despliegues IoT.</a:t>
            </a:r>
            <a:endParaRPr/>
          </a:p>
        </p:txBody>
      </p:sp>
      <p:pic>
        <p:nvPicPr>
          <p:cNvPr descr="image.png" id="104" name="Google Shape;104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67125" y="276701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/>
        </p:nvSpPr>
        <p:spPr>
          <a:xfrm>
            <a:off x="3667125" y="3490912"/>
            <a:ext cx="214026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Solución &amp; Arquitectura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3667125" y="4062412"/>
            <a:ext cx="20383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Segmentación VLAN, protocolo MQTT, almacenamiento de telemetría y dashboard NOC.</a:t>
            </a:r>
            <a:endParaRPr/>
          </a:p>
        </p:txBody>
      </p:sp>
      <p:pic>
        <p:nvPicPr>
          <p:cNvPr descr="image.png" id="107" name="Google Shape;107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86525" y="276701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"/>
          <p:cNvSpPr txBox="1"/>
          <p:nvPr/>
        </p:nvSpPr>
        <p:spPr>
          <a:xfrm>
            <a:off x="6486525" y="3490912"/>
            <a:ext cx="2000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Perfil &amp; Mitigación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6486525" y="3824287"/>
            <a:ext cx="203835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Vínculo con perfil de egreso, mitigación de riesgos y metodologías de desarrollo.</a:t>
            </a:r>
            <a:endParaRPr/>
          </a:p>
        </p:txBody>
      </p:sp>
      <p:pic>
        <p:nvPicPr>
          <p:cNvPr descr="image.png" id="110" name="Google Shape;110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305925" y="276701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"/>
          <p:cNvSpPr txBox="1"/>
          <p:nvPr/>
        </p:nvSpPr>
        <p:spPr>
          <a:xfrm>
            <a:off x="9305925" y="3490912"/>
            <a:ext cx="214026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Evidencias &amp; Carta Gantt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9305925" y="4062412"/>
            <a:ext cx="20383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Demostración práctica del prototipo, validación del sistema y planificación de fases.</a:t>
            </a:r>
            <a:endParaRPr/>
          </a:p>
        </p:txBody>
      </p:sp>
      <p:pic>
        <p:nvPicPr>
          <p:cNvPr descr="image.png" id="113" name="Google Shape;113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1075" y="290036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762375" y="2900362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581775" y="2900362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439275" y="290036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"/>
          <p:cNvSpPr txBox="1"/>
          <p:nvPr/>
        </p:nvSpPr>
        <p:spPr>
          <a:xfrm>
            <a:off x="571500" y="4572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Agenda de la Presentación</a:t>
            </a:r>
            <a:endParaRPr/>
          </a:p>
        </p:txBody>
      </p:sp>
      <p:sp>
        <p:nvSpPr>
          <p:cNvPr id="118" name="Google Shape;118;p2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82626"/>
            <a:ext cx="5334000" cy="23214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682626"/>
            <a:ext cx="5334000" cy="232142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3"/>
          <p:cNvSpPr txBox="1"/>
          <p:nvPr/>
        </p:nvSpPr>
        <p:spPr>
          <a:xfrm>
            <a:off x="866775" y="2977901"/>
            <a:ext cx="498062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Riesgo Sísmico Estructural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866775" y="3358901"/>
            <a:ext cx="4743450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Ubicación Objetivo: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Recinto industrial/educativo en la comuna de Puente Alto, Región Metropolitana.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866775" y="3956000"/>
            <a:ext cx="4743450" cy="752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 Problema: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La constante actividad sísmica en Chile genera micro-fisuras imperceptibles en techos y estructuras que derivan en colapsos o filtraciones de agua graves.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6581775" y="2977901"/>
            <a:ext cx="498062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Brecha de Seguridad IoT</a:t>
            </a:r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6581775" y="3358901"/>
            <a:ext cx="4743450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Inspección Tradicional: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Ineficiente, tardía y con alto riesgo humano.</a:t>
            </a:r>
            <a:endParaRPr/>
          </a:p>
        </p:txBody>
      </p:sp>
      <p:sp>
        <p:nvSpPr>
          <p:cNvPr id="131" name="Google Shape;131;p3"/>
          <p:cNvSpPr txBox="1"/>
          <p:nvPr/>
        </p:nvSpPr>
        <p:spPr>
          <a:xfrm>
            <a:off x="6581775" y="3956000"/>
            <a:ext cx="4743450" cy="752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Vulnerabilidad de Red: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El despliegue de dispositivos IoT sin parámetros de seguridad expone la red corporativa a ciberataques si no se aisla adecuadamente el tráfico.</a:t>
            </a:r>
            <a:endParaRPr/>
          </a:p>
        </p:txBody>
      </p:sp>
      <p:pic>
        <p:nvPicPr>
          <p:cNvPr descr="image.png" id="132" name="Google Shape;13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1775" y="3016001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3"/>
          <p:cNvSpPr txBox="1"/>
          <p:nvPr/>
        </p:nvSpPr>
        <p:spPr>
          <a:xfrm>
            <a:off x="571500" y="4572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Contexto Local y Problemática</a:t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47639"/>
            <a:ext cx="5334000" cy="2591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547639"/>
            <a:ext cx="5334000" cy="259139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"/>
          <p:cNvSpPr txBox="1"/>
          <p:nvPr/>
        </p:nvSpPr>
        <p:spPr>
          <a:xfrm>
            <a:off x="866775" y="2842914"/>
            <a:ext cx="498062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Propuesta Técnica</a:t>
            </a:r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866775" y="3223914"/>
            <a:ext cx="4743450" cy="752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Infraestructura de red robusta que aisla y transporta en tiempo real la telemetría de fisuras en techos mediante nodos </a:t>
            </a: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ESP32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44" name="Google Shape;144;p4"/>
          <p:cNvSpPr txBox="1"/>
          <p:nvPr/>
        </p:nvSpPr>
        <p:spPr>
          <a:xfrm>
            <a:off x="866775" y="4090987"/>
            <a:ext cx="4743450" cy="752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Stack Tecnológico: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ESP32 (VLAN 50 IoT), Mosquitto MQTT (VLAN 10 Servidores), InfluxDB, Grafana NOC y API Telegram.</a:t>
            </a:r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6581775" y="2842914"/>
            <a:ext cx="498062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Aporte de Valor</a:t>
            </a:r>
            <a:endParaRPr/>
          </a:p>
        </p:txBody>
      </p:sp>
      <p:sp>
        <p:nvSpPr>
          <p:cNvPr id="146" name="Google Shape;146;p4"/>
          <p:cNvSpPr txBox="1"/>
          <p:nvPr/>
        </p:nvSpPr>
        <p:spPr>
          <a:xfrm>
            <a:off x="6581775" y="3223914"/>
            <a:ext cx="4743450" cy="752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Seguridad Operacional: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Previene colapsos estructurales y filtraciones, resguardando la vida de usuarios y los activos institucionales.</a:t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6581775" y="4090987"/>
            <a:ext cx="4743450" cy="752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Arquitectura Escalable: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Segmentación mediante VLANs, ACLs y reglas estrictas de Firewall para evitar accesos no autorizados.</a:t>
            </a:r>
            <a:endParaRPr/>
          </a:p>
        </p:txBody>
      </p:sp>
      <p:pic>
        <p:nvPicPr>
          <p:cNvPr descr="image.png" id="148" name="Google Shape;14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881014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2881014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4"/>
          <p:cNvSpPr txBox="1"/>
          <p:nvPr/>
        </p:nvSpPr>
        <p:spPr>
          <a:xfrm>
            <a:off x="571500" y="4572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Propuesta de Solución y Valor Agregado</a:t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03586"/>
            <a:ext cx="11049000" cy="267935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8" name="Google Shape;158;p5"/>
          <p:cNvGraphicFramePr/>
          <p:nvPr/>
        </p:nvGraphicFramePr>
        <p:xfrm>
          <a:off x="581025" y="251311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{D4D18C2F-94C1-4707-B708-7C4D634A65D5}</a:tableStyleId>
              </a:tblPr>
              <a:tblGrid>
                <a:gridCol w="2696325"/>
                <a:gridCol w="2875950"/>
                <a:gridCol w="5457675"/>
              </a:tblGrid>
              <a:tr h="665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Competencia del Perfil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Área de Desempeño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Aplicación Práctica en el Proyecto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65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Diseño de Soluciones de Conectividad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Instalación y soporte de redes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Diseño de arquitectura IoT con comunicación JSON y protocolo MQTT seguro.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65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Implementación y Administración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Administración y Ciberseguridad de Redes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Segmentación por VLANs (IoT, Corp, Servidores), ACLs y plataforma de monitoreo NOC.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65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Interés Profesional Integrado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NOC / SOC / Servicios Cloud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Entorno laboral real simulado donde la red sostiene la operación sin descuidar la seguridad.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9" name="Google Shape;159;p5"/>
          <p:cNvSpPr/>
          <p:nvPr/>
        </p:nvSpPr>
        <p:spPr>
          <a:xfrm>
            <a:off x="581025" y="3720851"/>
            <a:ext cx="26963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3277344" y="3720851"/>
            <a:ext cx="28759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6153298" y="3720851"/>
            <a:ext cx="54576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581025" y="4439989"/>
            <a:ext cx="26963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3277344" y="4439989"/>
            <a:ext cx="28759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6153298" y="4439989"/>
            <a:ext cx="54576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581025" y="5159126"/>
            <a:ext cx="26963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3277344" y="5159126"/>
            <a:ext cx="28759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6153298" y="5159126"/>
            <a:ext cx="54576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571500" y="4572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Alineación con el Perfil de Egreso</a:t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31876"/>
            <a:ext cx="5334000" cy="242292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6"/>
          <p:cNvSpPr txBox="1"/>
          <p:nvPr/>
        </p:nvSpPr>
        <p:spPr>
          <a:xfrm>
            <a:off x="876300" y="2936676"/>
            <a:ext cx="496062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Objetivo General</a:t>
            </a:r>
            <a:endParaRPr/>
          </a:p>
        </p:txBody>
      </p:sp>
      <p:sp>
        <p:nvSpPr>
          <p:cNvPr id="177" name="Google Shape;177;p6"/>
          <p:cNvSpPr txBox="1"/>
          <p:nvPr/>
        </p:nvSpPr>
        <p:spPr>
          <a:xfrm>
            <a:off x="876300" y="3374826"/>
            <a:ext cx="47244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Diseñar e implementar una infraestructura de red corporativa segura para el monitoreo IoT de fisuras estructurales, integrando una plataforma de supervisión centralizada (NOC) y alertas tempranas automáticas.</a:t>
            </a:r>
            <a:endParaRPr/>
          </a:p>
        </p:txBody>
      </p:sp>
      <p:pic>
        <p:nvPicPr>
          <p:cNvPr descr="image.png" id="178" name="Google Shape;17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00" y="297477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6"/>
          <p:cNvSpPr txBox="1"/>
          <p:nvPr/>
        </p:nvSpPr>
        <p:spPr>
          <a:xfrm>
            <a:off x="6572250" y="2631876"/>
            <a:ext cx="50482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Topología Segura: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Aislar el tráfico IoT utilizando VLANs dedicadas y Listas de Control de Acceso (ACLs).</a:t>
            </a:r>
            <a:endParaRPr/>
          </a:p>
        </p:txBody>
      </p:sp>
      <p:sp>
        <p:nvSpPr>
          <p:cNvPr id="180" name="Google Shape;180;p6"/>
          <p:cNvSpPr txBox="1"/>
          <p:nvPr/>
        </p:nvSpPr>
        <p:spPr>
          <a:xfrm>
            <a:off x="6572250" y="3237607"/>
            <a:ext cx="50482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Servicios IoT: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Configurar broker MQTT Mosquitto y base de datos InfluxDB para la ingesta de telemetría.</a:t>
            </a:r>
            <a:endParaRPr/>
          </a:p>
        </p:txBody>
      </p:sp>
      <p:sp>
        <p:nvSpPr>
          <p:cNvPr id="181" name="Google Shape;181;p6"/>
          <p:cNvSpPr txBox="1"/>
          <p:nvPr/>
        </p:nvSpPr>
        <p:spPr>
          <a:xfrm>
            <a:off x="6572250" y="3843337"/>
            <a:ext cx="50482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Plataforma NOC: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Implementar dashboards en Grafana con métricas de fisuras y estado de salud de la red.</a:t>
            </a:r>
            <a:endParaRPr/>
          </a:p>
        </p:txBody>
      </p:sp>
      <p:sp>
        <p:nvSpPr>
          <p:cNvPr id="182" name="Google Shape;182;p6"/>
          <p:cNvSpPr txBox="1"/>
          <p:nvPr/>
        </p:nvSpPr>
        <p:spPr>
          <a:xfrm>
            <a:off x="6572250" y="4449067"/>
            <a:ext cx="50482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Alertamiento Instantáneo: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Habilitar notificaciones automatizadas vía Telegram ante umbrales críticos.</a:t>
            </a:r>
            <a:endParaRPr/>
          </a:p>
        </p:txBody>
      </p:sp>
      <p:pic>
        <p:nvPicPr>
          <p:cNvPr descr="image.png" id="183" name="Google Shape;18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669976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27570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88143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448716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6"/>
          <p:cNvSpPr txBox="1"/>
          <p:nvPr/>
        </p:nvSpPr>
        <p:spPr>
          <a:xfrm>
            <a:off x="571500" y="4572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Objetivos del Proyecto</a:t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33587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7"/>
          <p:cNvSpPr txBox="1"/>
          <p:nvPr/>
        </p:nvSpPr>
        <p:spPr>
          <a:xfrm>
            <a:off x="857250" y="2631876"/>
            <a:ext cx="50482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Recursos Principales: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ESP32, Broker Mosquitto, InfluxDB, Grafana y entornos de virtualización (Packet Tracer, VirtualBox).</a:t>
            </a:r>
            <a:endParaRPr/>
          </a:p>
        </p:txBody>
      </p:sp>
      <p:sp>
        <p:nvSpPr>
          <p:cNvPr id="196" name="Google Shape;196;p7"/>
          <p:cNvSpPr txBox="1"/>
          <p:nvPr/>
        </p:nvSpPr>
        <p:spPr>
          <a:xfrm>
            <a:off x="857250" y="3237607"/>
            <a:ext cx="50482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Factores Facilitadores: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Uso extensivo de herramientas Open Source sin costo de licenciamiento y con amplia documentación técnica.</a:t>
            </a:r>
            <a:endParaRPr/>
          </a:p>
        </p:txBody>
      </p:sp>
      <p:sp>
        <p:nvSpPr>
          <p:cNvPr id="197" name="Google Shape;197;p7"/>
          <p:cNvSpPr txBox="1"/>
          <p:nvPr/>
        </p:nvSpPr>
        <p:spPr>
          <a:xfrm>
            <a:off x="857250" y="3843337"/>
            <a:ext cx="50482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Riesgo Identificado: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Demoras o fallas en la adquisición de hardware físico para el prototipo.</a:t>
            </a:r>
            <a:endParaRPr/>
          </a:p>
        </p:txBody>
      </p:sp>
      <p:sp>
        <p:nvSpPr>
          <p:cNvPr id="198" name="Google Shape;198;p7"/>
          <p:cNvSpPr txBox="1"/>
          <p:nvPr/>
        </p:nvSpPr>
        <p:spPr>
          <a:xfrm>
            <a:off x="857250" y="4449067"/>
            <a:ext cx="50482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Mitigación Activa: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Uso del simulador virtual IoT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Wokwi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para validar código y sensores sin dependencia de hardware.</a:t>
            </a:r>
            <a:endParaRPr/>
          </a:p>
        </p:txBody>
      </p:sp>
      <p:pic>
        <p:nvPicPr>
          <p:cNvPr descr="image.png" id="199" name="Google Shape;19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69976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27570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88143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48716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7"/>
          <p:cNvSpPr txBox="1"/>
          <p:nvPr/>
        </p:nvSpPr>
        <p:spPr>
          <a:xfrm>
            <a:off x="571500" y="4572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Factibilidad y Mitigación de Riesgos</a:t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odeMCU ESP32-C | Joy-IT" id="205" name="Google Shape;205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07683" y="2603515"/>
            <a:ext cx="4831461" cy="2555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8"/>
          <p:cNvSpPr txBox="1"/>
          <p:nvPr/>
        </p:nvSpPr>
        <p:spPr>
          <a:xfrm>
            <a:off x="6572250" y="2631876"/>
            <a:ext cx="50482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VLAN 10 (Corporativa):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Tráfico de administración y usuarios autorizados.</a:t>
            </a:r>
            <a:endParaRPr/>
          </a:p>
        </p:txBody>
      </p:sp>
      <p:sp>
        <p:nvSpPr>
          <p:cNvPr id="212" name="Google Shape;212;p8"/>
          <p:cNvSpPr txBox="1"/>
          <p:nvPr/>
        </p:nvSpPr>
        <p:spPr>
          <a:xfrm>
            <a:off x="6572250" y="3237607"/>
            <a:ext cx="50482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VLAN 20 (NOC / Servidores):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Alojamiento del Broker MQTT, InfluxDB y plataforma Grafana.</a:t>
            </a:r>
            <a:endParaRPr/>
          </a:p>
        </p:txBody>
      </p:sp>
      <p:sp>
        <p:nvSpPr>
          <p:cNvPr id="213" name="Google Shape;213;p8"/>
          <p:cNvSpPr txBox="1"/>
          <p:nvPr/>
        </p:nvSpPr>
        <p:spPr>
          <a:xfrm>
            <a:off x="6572250" y="3843337"/>
            <a:ext cx="50482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VLAN 50 (IoT Sensors):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Red aislada para nodos ESP32 conectadas vía Access Point.</a:t>
            </a:r>
            <a:endParaRPr/>
          </a:p>
        </p:txBody>
      </p:sp>
      <p:sp>
        <p:nvSpPr>
          <p:cNvPr id="214" name="Google Shape;214;p8"/>
          <p:cNvSpPr txBox="1"/>
          <p:nvPr/>
        </p:nvSpPr>
        <p:spPr>
          <a:xfrm>
            <a:off x="6572250" y="4449067"/>
            <a:ext cx="50482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Seguridad ACL: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Filtros estrictos que impiden a los sensores IoT acceder a la red corporativa.</a:t>
            </a:r>
            <a:endParaRPr/>
          </a:p>
        </p:txBody>
      </p:sp>
      <p:pic>
        <p:nvPicPr>
          <p:cNvPr descr="image.png" id="215" name="Google Shape;21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669976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27570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881437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4487167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8"/>
          <p:cNvSpPr txBox="1"/>
          <p:nvPr/>
        </p:nvSpPr>
        <p:spPr>
          <a:xfrm>
            <a:off x="571500" y="4572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Topología y Segmentación de Red</a:t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46850" y="1000125"/>
            <a:ext cx="3803305" cy="27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46850" y="3709975"/>
            <a:ext cx="3803299" cy="3049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9"/>
          <p:cNvSpPr txBox="1"/>
          <p:nvPr/>
        </p:nvSpPr>
        <p:spPr>
          <a:xfrm>
            <a:off x="571500" y="5130700"/>
            <a:ext cx="5410200" cy="206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Script Puente Python e Ingesta InfluxDB</a:t>
            </a:r>
            <a:endParaRPr/>
          </a:p>
        </p:txBody>
      </p:sp>
      <p:sp>
        <p:nvSpPr>
          <p:cNvPr id="229" name="Google Shape;229;p9"/>
          <p:cNvSpPr txBox="1"/>
          <p:nvPr/>
        </p:nvSpPr>
        <p:spPr>
          <a:xfrm>
            <a:off x="6210300" y="5130700"/>
            <a:ext cx="5410200" cy="206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Dashboard de Supervisión en Tiempo Real</a:t>
            </a:r>
            <a:endParaRPr/>
          </a:p>
        </p:txBody>
      </p:sp>
      <p:sp>
        <p:nvSpPr>
          <p:cNvPr id="230" name="Google Shape;230;p9"/>
          <p:cNvSpPr txBox="1"/>
          <p:nvPr/>
        </p:nvSpPr>
        <p:spPr>
          <a:xfrm>
            <a:off x="571500" y="4572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Pruebas de Ingesta y Dashboard NOC</a:t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6126" y="1952779"/>
            <a:ext cx="4498048" cy="3063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0300" y="2362198"/>
            <a:ext cx="5619178" cy="24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0"/>
          <p:cNvSpPr txBox="1"/>
          <p:nvPr/>
        </p:nvSpPr>
        <p:spPr>
          <a:xfrm>
            <a:off x="857250" y="2934741"/>
            <a:ext cx="50482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Detección de Umbral: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Evaluación continua de la apertura de fisura en milímetros (mm).</a:t>
            </a:r>
            <a:endParaRPr/>
          </a:p>
        </p:txBody>
      </p:sp>
      <p:sp>
        <p:nvSpPr>
          <p:cNvPr id="240" name="Google Shape;240;p10"/>
          <p:cNvSpPr txBox="1"/>
          <p:nvPr/>
        </p:nvSpPr>
        <p:spPr>
          <a:xfrm>
            <a:off x="857250" y="3540472"/>
            <a:ext cx="50482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Integración con Telegram: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Envío automático de notificación push al canal de emergencias del NOC.</a:t>
            </a:r>
            <a:endParaRPr/>
          </a:p>
        </p:txBody>
      </p:sp>
      <p:sp>
        <p:nvSpPr>
          <p:cNvPr id="241" name="Google Shape;241;p10"/>
          <p:cNvSpPr txBox="1"/>
          <p:nvPr/>
        </p:nvSpPr>
        <p:spPr>
          <a:xfrm>
            <a:off x="857250" y="4146202"/>
            <a:ext cx="50482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Tiempo de Respuesta: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Alerta inmediata ante eventos de riesgo (&gt; 4.5 mm) o desconexión del sensor.</a:t>
            </a:r>
            <a:endParaRPr/>
          </a:p>
        </p:txBody>
      </p:sp>
      <p:pic>
        <p:nvPicPr>
          <p:cNvPr descr="image.png" id="242" name="Google Shape;24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72841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7857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84302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0"/>
          <p:cNvSpPr txBox="1"/>
          <p:nvPr/>
        </p:nvSpPr>
        <p:spPr>
          <a:xfrm>
            <a:off x="571500" y="4572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Sistema de Alertas Inmediatas</a:t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" name="Google Shape;247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53162" y="2352674"/>
            <a:ext cx="5591175" cy="284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2" name="Google Shape;252;g3f8b700aa78_0_12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{106D9C70-63D3-42C5-8133-0D02711F718D}</a:tableStyleId>
              </a:tblPr>
              <a:tblGrid>
                <a:gridCol w="2097975"/>
                <a:gridCol w="5106400"/>
                <a:gridCol w="1345875"/>
                <a:gridCol w="1306275"/>
                <a:gridCol w="2335500"/>
              </a:tblGrid>
              <a:tr h="659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1100"/>
                        <a:t>Actividad / Fase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1100"/>
                        <a:t>Descripción Clave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1100"/>
                        <a:t>Duración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1100"/>
                        <a:t>Responsable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1100"/>
                        <a:t>Recursos y Dificultad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6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1100"/>
                        <a:t>1. Arquitectura de Red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/>
                        <a:t>Topología, direccionamiento IP y segmentación por VLANs (IoT 50, Corp 10, Serv 100).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/>
                        <a:t>Semanas 1 a 4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/>
                        <a:t>Joao Jeldres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Packet Tracer / GNS3.</a:t>
                      </a:r>
                      <a:endParaRPr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/>
                        <a:t>Dificultad:</a:t>
                      </a:r>
                      <a:r>
                        <a:rPr lang="en-US" sz="1100"/>
                        <a:t> Aislamiento de VLANs.</a:t>
                      </a:r>
                      <a:endParaRPr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6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1100"/>
                        <a:t>2. Nodo IoT y Broker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/>
                        <a:t>Programación ESP32 (MQTT/JSON) y despliegue de servidor Mosquitto.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/>
                        <a:t>Semanas 5 a 8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/>
                        <a:t>Néstor Navarro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ESP32, VM Linux.</a:t>
                      </a:r>
                      <a:endParaRPr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/>
                        <a:t>Dificultad:</a:t>
                      </a:r>
                      <a:r>
                        <a:rPr lang="en-US" sz="1100"/>
                        <a:t> Reconexión Wi-Fi.</a:t>
                      </a:r>
                      <a:endParaRPr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6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1100"/>
                        <a:t>3. Ciberseguridad y BBDD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/>
                        <a:t>Reglas de filtrado (ACLs) para VLAN IoT e ingesta de datos en InfluxDB.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/>
                        <a:t>Semanas 9 a 12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/>
                        <a:t>Francianna Aro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Routers/Switches, InfluxDB.</a:t>
                      </a:r>
                      <a:endParaRPr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/>
                        <a:t>Dificultad:</a:t>
                      </a:r>
                      <a:r>
                        <a:rPr lang="en-US" sz="1100"/>
                        <a:t> Sintaxis de ACLs.</a:t>
                      </a:r>
                      <a:endParaRPr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6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1100"/>
                        <a:t>4. Plataforma NOC y Alertas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/>
                        <a:t>Dashboard en Grafana (fisura/conectividad) y notificaciones por Telegram.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/>
                        <a:t>Semanas 13 a 16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/>
                        <a:t>Néstor Navarro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Grafana, API Telegram.</a:t>
                      </a:r>
                      <a:endParaRPr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/>
                        <a:t>Dificultad:</a:t>
                      </a:r>
                      <a:r>
                        <a:rPr lang="en-US" sz="1100"/>
                        <a:t> Disparadores de alerta.</a:t>
                      </a:r>
                      <a:endParaRPr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2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3989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en-US" sz="1175">
                          <a:solidFill>
                            <a:schemeClr val="dk1"/>
                          </a:solidFill>
                        </a:rPr>
                        <a:t>5. </a:t>
                      </a:r>
                      <a:r>
                        <a:rPr b="1" lang="en-US" sz="1175">
                          <a:solidFill>
                            <a:schemeClr val="dk1"/>
                          </a:solidFill>
                        </a:rPr>
                        <a:t>Pruebas integrales, simulación de fallas y entrega final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/>
                        <a:t>Pruebas integrales de flujo completo (End-to-End), simulación de caídas de enlaces/nodos y redacción de memoria técnica final. 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/>
                        <a:t>Semanas 17 a 18 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/>
                        <a:t>Equipo completo 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Test de estrés, Memoria técnica final.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1100">
                          <a:solidFill>
                            <a:schemeClr val="dk1"/>
                          </a:solidFill>
                        </a:rPr>
                        <a:t>Dificultad: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Simulación de fallas y estabilidad global.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73971"/>
            <a:ext cx="1988790" cy="11007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6515" y="3673971"/>
            <a:ext cx="1988790" cy="11007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01530" y="3673971"/>
            <a:ext cx="1988790" cy="11007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66545" y="3673971"/>
            <a:ext cx="1988790" cy="11007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31560" y="3673971"/>
            <a:ext cx="1988790" cy="1100732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1"/>
          <p:cNvSpPr/>
          <p:nvPr/>
        </p:nvSpPr>
        <p:spPr>
          <a:xfrm>
            <a:off x="571500" y="3673971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1451520" y="3292971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3716535" y="3292971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5981551" y="3292971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8246566" y="3292971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10511581" y="3292971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 txBox="1"/>
          <p:nvPr/>
        </p:nvSpPr>
        <p:spPr>
          <a:xfrm>
            <a:off x="691801" y="3835896"/>
            <a:ext cx="17481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Sem 1 - 4</a:t>
            </a:r>
            <a:endParaRPr/>
          </a:p>
        </p:txBody>
      </p:sp>
      <p:sp>
        <p:nvSpPr>
          <p:cNvPr id="270" name="Google Shape;270;p11"/>
          <p:cNvSpPr txBox="1"/>
          <p:nvPr/>
        </p:nvSpPr>
        <p:spPr>
          <a:xfrm>
            <a:off x="733425" y="4093071"/>
            <a:ext cx="1664940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Diseño de arquitectura de red y segmentación VLAN (Joao Jeldrez)</a:t>
            </a:r>
            <a:endParaRPr/>
          </a:p>
        </p:txBody>
      </p:sp>
      <p:sp>
        <p:nvSpPr>
          <p:cNvPr id="271" name="Google Shape;271;p11"/>
          <p:cNvSpPr txBox="1"/>
          <p:nvPr/>
        </p:nvSpPr>
        <p:spPr>
          <a:xfrm>
            <a:off x="2956816" y="3835896"/>
            <a:ext cx="17481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Sem 5 - 8</a:t>
            </a:r>
            <a:endParaRPr/>
          </a:p>
        </p:txBody>
      </p:sp>
      <p:sp>
        <p:nvSpPr>
          <p:cNvPr id="272" name="Google Shape;272;p11"/>
          <p:cNvSpPr txBox="1"/>
          <p:nvPr/>
        </p:nvSpPr>
        <p:spPr>
          <a:xfrm>
            <a:off x="2998440" y="4093071"/>
            <a:ext cx="1664940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Programación ESP32 y broker Mosquitto (Néstor Navarro)</a:t>
            </a:r>
            <a:endParaRPr/>
          </a:p>
        </p:txBody>
      </p:sp>
      <p:sp>
        <p:nvSpPr>
          <p:cNvPr id="273" name="Google Shape;273;p11"/>
          <p:cNvSpPr txBox="1"/>
          <p:nvPr/>
        </p:nvSpPr>
        <p:spPr>
          <a:xfrm>
            <a:off x="5221831" y="3835896"/>
            <a:ext cx="17481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Sem 9 - 12</a:t>
            </a:r>
            <a:endParaRPr/>
          </a:p>
        </p:txBody>
      </p:sp>
      <p:sp>
        <p:nvSpPr>
          <p:cNvPr id="274" name="Google Shape;274;p11"/>
          <p:cNvSpPr txBox="1"/>
          <p:nvPr/>
        </p:nvSpPr>
        <p:spPr>
          <a:xfrm>
            <a:off x="5263455" y="4093071"/>
            <a:ext cx="1664940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Seguridad con ACLs e ingesta en InfluxDB (Francianna Aro)</a:t>
            </a:r>
            <a:endParaRPr/>
          </a:p>
        </p:txBody>
      </p:sp>
      <p:sp>
        <p:nvSpPr>
          <p:cNvPr id="275" name="Google Shape;275;p11"/>
          <p:cNvSpPr txBox="1"/>
          <p:nvPr/>
        </p:nvSpPr>
        <p:spPr>
          <a:xfrm>
            <a:off x="7486847" y="3835896"/>
            <a:ext cx="17481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Sem 13 - 16</a:t>
            </a:r>
            <a:endParaRPr/>
          </a:p>
        </p:txBody>
      </p:sp>
      <p:sp>
        <p:nvSpPr>
          <p:cNvPr id="276" name="Google Shape;276;p11"/>
          <p:cNvSpPr txBox="1"/>
          <p:nvPr/>
        </p:nvSpPr>
        <p:spPr>
          <a:xfrm>
            <a:off x="7528470" y="4093071"/>
            <a:ext cx="1664940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Despliegue de Grafana y Alertas Telegram (Néstor / Joao)</a:t>
            </a:r>
            <a:endParaRPr/>
          </a:p>
        </p:txBody>
      </p:sp>
      <p:sp>
        <p:nvSpPr>
          <p:cNvPr id="277" name="Google Shape;277;p11"/>
          <p:cNvSpPr txBox="1"/>
          <p:nvPr/>
        </p:nvSpPr>
        <p:spPr>
          <a:xfrm>
            <a:off x="9751862" y="3835896"/>
            <a:ext cx="17481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Sem 17 - 18</a:t>
            </a:r>
            <a:endParaRPr/>
          </a:p>
        </p:txBody>
      </p:sp>
      <p:sp>
        <p:nvSpPr>
          <p:cNvPr id="278" name="Google Shape;278;p11"/>
          <p:cNvSpPr txBox="1"/>
          <p:nvPr/>
        </p:nvSpPr>
        <p:spPr>
          <a:xfrm>
            <a:off x="9793485" y="4093071"/>
            <a:ext cx="1664940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Pruebas integrales, simulación de fallas y entrega final</a:t>
            </a:r>
            <a:endParaRPr/>
          </a:p>
        </p:txBody>
      </p:sp>
      <p:sp>
        <p:nvSpPr>
          <p:cNvPr id="279" name="Google Shape;279;p11"/>
          <p:cNvSpPr txBox="1"/>
          <p:nvPr/>
        </p:nvSpPr>
        <p:spPr>
          <a:xfrm>
            <a:off x="571500" y="4572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 de Trabajo y Carta Gantt</a:t>
            </a: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5" name="Google Shape;28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2"/>
          <p:cNvSpPr txBox="1"/>
          <p:nvPr/>
        </p:nvSpPr>
        <p:spPr>
          <a:xfrm>
            <a:off x="1047750" y="2881312"/>
            <a:ext cx="10096500" cy="89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Más allá de los sensores, brokers y líneas de código, este proyecto demuestra cómo la conectividad y la ciberseguridad pueden trabajar juntas para proteger infraestructura crítica y salvar vidas. Logramos demostrar que integrar dispositivos IoT no exige poner en riesgo la red corporativa si se diseña con aislamiento, monitoreo activo y rigurosidad técnica desde el primer día.</a:t>
            </a:r>
            <a:endParaRPr/>
          </a:p>
        </p:txBody>
      </p:sp>
      <p:sp>
        <p:nvSpPr>
          <p:cNvPr id="287" name="Google Shape;287;p12"/>
          <p:cNvSpPr txBox="1"/>
          <p:nvPr/>
        </p:nvSpPr>
        <p:spPr>
          <a:xfrm>
            <a:off x="571500" y="4572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Conclusión y Reflexión del Equipo</a:t>
            </a:r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f8b700aa78_0_23"/>
          <p:cNvSpPr txBox="1"/>
          <p:nvPr/>
        </p:nvSpPr>
        <p:spPr>
          <a:xfrm>
            <a:off x="3893700" y="483125"/>
            <a:ext cx="4726200" cy="16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¿Comentarios o preguntas?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4" name="Google Shape;294;g3f8b700aa78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2075" y="1573175"/>
            <a:ext cx="7447858" cy="443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