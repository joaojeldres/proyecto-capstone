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 ExtraBold"/>
      <p:bold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lus Jakarta Sans"/>
      <p:regular r:id="rId31"/>
      <p:bold r:id="rId32"/>
      <p:italic r:id="rId33"/>
      <p:boldItalic r:id="rId34"/>
    </p:embeddedFont>
    <p:embeddedFont>
      <p:font typeface="Plus Jakarta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6tThfszSXg6aaJhgOD+QTODpe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B28A47-CF37-49ED-AA85-C4D1CE687816}">
  <a:tblStyle styleId="{61B28A47-CF37-49ED-AA85-C4D1CE6878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E6A97E9-80B9-422A-9BED-78188A9E0EC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ExtraBold-boldItalic.fntdata"/><Relationship Id="rId21" Type="http://schemas.openxmlformats.org/officeDocument/2006/relationships/font" Target="fonts/PlusJakartaSansExtraBold-bold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-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bold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SemiBold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PlusJakartaSa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b700aa7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8b700aa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b700aa7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8b700aa7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4.png"/><Relationship Id="rId13" Type="http://schemas.openxmlformats.org/officeDocument/2006/relationships/image" Target="../media/image6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1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34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9" Type="http://schemas.openxmlformats.org/officeDocument/2006/relationships/image" Target="../media/image46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687" y="4150369"/>
            <a:ext cx="88106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45406" y="2202805"/>
            <a:ext cx="9501187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Sistema IoT de Monitoreo y Detección Temprana de Fisuras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819400" y="3444626"/>
            <a:ext cx="6553200" cy="324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Infraestructura de Red Segura y Supervisión Centralizada (NOC)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005012" y="4312294"/>
            <a:ext cx="3971925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Integrantes: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Fracianna Aro | Joao Jeldres | Néstor Navarro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357937" y="4312294"/>
            <a:ext cx="1762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Docente: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Claudia Reinoso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501062" y="4312294"/>
            <a:ext cx="1685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Proyecto: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Capstone APT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9700" y="2490787"/>
            <a:ext cx="25908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8477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Contexto &amp; Problema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477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Problemática sísmica local en Puente Alto y la brecha de ciberseguridad en despliegues IoT.</a:t>
            </a:r>
            <a:endParaRPr/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71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36671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Solución &amp; Arquitectura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36671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Segmentación VLAN, protocolo MQTT, almacenamiento de telemetría y dashboard NOC.</a:t>
            </a:r>
            <a:endParaRPr/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6486525" y="3490912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Perfil &amp; Mitigación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486525" y="3824287"/>
            <a:ext cx="2038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Vínculo con perfil de egreso, mitigación de riesgos y metodologías de desarrollo.</a:t>
            </a:r>
            <a:endParaRPr/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05925" y="27670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9305925" y="3490912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Evidencias &amp; Carta Gantt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305925" y="4062412"/>
            <a:ext cx="2038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Demostración práctica del prototipo, validación del sistema y planificación de fases.</a:t>
            </a:r>
            <a:endParaRPr/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075" y="29003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62375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290036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39275" y="29003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de la Presentación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2626"/>
            <a:ext cx="5334000" cy="2321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2626"/>
            <a:ext cx="5334000" cy="232142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866775" y="297790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Riesgo Sísmico Estructural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866775" y="3358901"/>
            <a:ext cx="474345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Ubicación Objetivo: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Recinto industrial/educativo en la comuna de Puente Alto, Región Metropolitana.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866775" y="3956000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Problema: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constante actividad sísmica en Chile genera micro-fisuras imperceptibles en techos y estructuras que derivan en colapsos o filtraciones de agua graves.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581775" y="2977901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Brecha de Seguridad IoT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581775" y="3358901"/>
            <a:ext cx="474345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Inspección Tradicional: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Ineficiente, tardía y con alto riesgo humano.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581775" y="3956000"/>
            <a:ext cx="4743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Vulnerabilidad de Red: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despliegue de dispositivos IoT sin parámetros de seguridad expone la red corporativa a ciberataques si no se </a:t>
            </a: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aísla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adecuadamente el tráfico.</a:t>
            </a:r>
            <a:endParaRPr/>
          </a:p>
        </p:txBody>
      </p:sp>
      <p:pic>
        <p:nvPicPr>
          <p:cNvPr descr="image.png" id="132" name="Google Shape;1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301600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Local y Problemática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639"/>
            <a:ext cx="5334000" cy="2591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47639"/>
            <a:ext cx="5334000" cy="259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66775" y="2842914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Técnica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866775" y="3223914"/>
            <a:ext cx="4743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Infraestructura de red robusta que </a:t>
            </a: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aísla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transporta en tiempo real la telemetría de fisuras en techos mediante nodos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ESP32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866775" y="4090987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Stack Tecnológico: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ESP32 (VLAN 50 IoT), Mosquitto MQTT (VLAN 10 Servidores), InfluxDB, Grafana NOC y API Telegram.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581775" y="2842914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Aporte de Valor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6581775" y="3223914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Operacional: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Previene colapsos estructurales y filtraciones, resguardando la vida de usuarios y los activos institucionales.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581775" y="4090987"/>
            <a:ext cx="4743450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Arquitectura Escalable: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Segmentación mediante VLANs, ACLs y reglas estrictas de Firewall para evitar accesos no autorizados.</a:t>
            </a:r>
            <a:endParaRPr/>
          </a:p>
        </p:txBody>
      </p:sp>
      <p:pic>
        <p:nvPicPr>
          <p:cNvPr descr="image.png" id="148" name="Google Shape;1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8101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88101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Solución y Valor Agregado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3586"/>
            <a:ext cx="11049000" cy="26793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5"/>
          <p:cNvGraphicFramePr/>
          <p:nvPr/>
        </p:nvGraphicFramePr>
        <p:xfrm>
          <a:off x="581025" y="2513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{61B28A47-CF37-49ED-AA85-C4D1CE687816}</a:tableStyleId>
              </a:tblPr>
              <a:tblGrid>
                <a:gridCol w="2696325"/>
                <a:gridCol w="2875950"/>
                <a:gridCol w="5457675"/>
              </a:tblGrid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Competencia del Perfil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Área de Desempeño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Aplicación Práctica en el Proyecto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de Soluciones de Conectividad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Instalación y soporte de redes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de arquitectura IoT con comunicación JSON y protocolo MQTT seguro.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Implementación y Administración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Administración y Ciberseguridad de Redes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Segmentación por VLANs (IoT, Corp, Servidores), ACLs y plataforma de monitoreo NOC.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Interés Profesional Integrado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NOC / SOC / Servicios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Entorno laboral real simulado donde la red sostiene la operación sin descuidar la seguridad.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5"/>
          <p:cNvSpPr/>
          <p:nvPr/>
        </p:nvSpPr>
        <p:spPr>
          <a:xfrm>
            <a:off x="581025" y="3720851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77344" y="3720851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53298" y="3720851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81025" y="4439989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277344" y="4439989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153298" y="4439989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81025" y="5159126"/>
            <a:ext cx="26963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77344" y="5159126"/>
            <a:ext cx="2875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153298" y="5159126"/>
            <a:ext cx="5457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Alineación con el Perfil de Egreso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31876"/>
            <a:ext cx="5334000" cy="24229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876300" y="2936676"/>
            <a:ext cx="49606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General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876300" y="3374826"/>
            <a:ext cx="4724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Diseñar e implementar una infraestructura de red corporativa segura para el monitoreo IoT de fisuras estructurales, integrando una plataforma de supervisión centralizada (NOC) y alertas tempranas automáticas.</a:t>
            </a:r>
            <a:endParaRPr/>
          </a:p>
        </p:txBody>
      </p:sp>
      <p:pic>
        <p:nvPicPr>
          <p:cNvPr descr="image.png"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97477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6572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Topología Segura: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Aislar el tráfico IoT utilizando VLANs dedicadas y Listas de Control de Acceso (ACLs).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6572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Servicios IoT: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Configurar broker MQTT Mosquitto y base de datos InfluxDB para la ingesta de telemetría.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572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Plataforma NOC: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Implementar dashboards en Grafana con métricas de fisuras y estado de salud de la red.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6572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Alertamiento Instantáneo: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Habilitar notificaciones automatizadas vía Telegram ante umbrales críticos.</a:t>
            </a:r>
            <a:endParaRPr/>
          </a:p>
        </p:txBody>
      </p:sp>
      <p:pic>
        <p:nvPicPr>
          <p:cNvPr descr="image.png" id="183" name="Google Shape;1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6997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14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48716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del Proyecto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35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857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Recursos Principales: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ESP32, Broker Mosquitto, InfluxDB, Grafana y entornos de virtualización (Packet Tracer, VirtualBox).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857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Factores Facilitadores: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Uso extensivo de herramientas Open Source sin costo de licenciamiento y con amplia documentación técnica.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857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Riesgo Identificado: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Demoras o fallas en la adquisición de hardware físico para el prototipo.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857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Mitigación Activa: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Uso del simulador virtual IoT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Wokwi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validar código y sensores sin dependencia de hardware.</a:t>
            </a:r>
            <a:endParaRPr/>
          </a:p>
        </p:txBody>
      </p:sp>
      <p:pic>
        <p:nvPicPr>
          <p:cNvPr descr="image.png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6997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14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8716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Factibilidad y Mitigación de Riesgos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deMCU ESP32-C | Joy-IT" id="205" name="Google Shape;20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7683" y="2603515"/>
            <a:ext cx="4831461" cy="255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6572250" y="2631876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10 (Corporativa):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Tráfico de administración y usuarios autorizados.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6572250" y="323760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20 (NOC / Servidores):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Alojamiento del Broker MQTT, InfluxDB y plataforma Grafana.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6572250" y="384333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VLAN 50 (IoT Sensors):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Red aislada para nodos ESP32 conectadas vía Access Point.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6572250" y="4449067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ACL: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Filtros estrictos que impiden a los sensores IoT acceder a la red corporativa.</a:t>
            </a:r>
            <a:endParaRPr/>
          </a:p>
        </p:txBody>
      </p:sp>
      <p:pic>
        <p:nvPicPr>
          <p:cNvPr descr="image.png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6997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27570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143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48716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Topología y Segmentación de Red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6850" y="1000125"/>
            <a:ext cx="3803305" cy="27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6850" y="3709975"/>
            <a:ext cx="3803299" cy="304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 txBox="1"/>
          <p:nvPr/>
        </p:nvSpPr>
        <p:spPr>
          <a:xfrm>
            <a:off x="571500" y="5130700"/>
            <a:ext cx="5410200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Script Puente Python e Ingesta InfluxDB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6210300" y="5130700"/>
            <a:ext cx="5410200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de Supervisión en Tiempo Real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 Ingesta y Dashboard NOC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126" y="1952779"/>
            <a:ext cx="4498048" cy="3063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362198"/>
            <a:ext cx="5619178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857250" y="2934741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Detección de Umbral: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Evaluación continua de la apertura de fisura en milímetros (mm).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857250" y="3540472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Integración con Telegram: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Envío automático de notificación push al canal de emergencias del NOC.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857250" y="4146202"/>
            <a:ext cx="50482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Tiempo de Respuesta: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Alerta inmediata ante eventos de riesgo (&gt; 4.5 mm) o desconexión del sensor.</a:t>
            </a:r>
            <a:endParaRPr/>
          </a:p>
        </p:txBody>
      </p:sp>
      <p:pic>
        <p:nvPicPr>
          <p:cNvPr descr="image.png" id="242" name="Google Shape;2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284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857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8430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 de Alertas Inmediatas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3162" y="2352674"/>
            <a:ext cx="55911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Google Shape;252;g3f8b700aa78_0_1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{3E6A97E9-80B9-422A-9BED-78188A9E0EC9}</a:tableStyleId>
              </a:tblPr>
              <a:tblGrid>
                <a:gridCol w="2097975"/>
                <a:gridCol w="5106400"/>
                <a:gridCol w="1345875"/>
                <a:gridCol w="1306275"/>
                <a:gridCol w="2335500"/>
              </a:tblGrid>
              <a:tr h="6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Actividad / Fase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Descripción Clave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Duración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Responsable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Recursos y Dificultad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1. Arquitectura de Red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Topología, direccionamiento IP y segmentación por VLANs (IoT 50, Corp 10, Serv 100).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 a 4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Joao Jeldres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Packet Tracer / GNS3.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Aislamiento de VLANs.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2. Nodo IoT y Broker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Programación ESP32 (MQTT/JSON) y despliegue de servidor Mosquitto.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5 a 8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Néstor Navarro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ESP32, VM Linux.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Reconexión Wi-Fi.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3. Ciberseguridad y BBDD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Reglas de filtrado (ACLs) para VLAN IoT e ingesta de datos en InfluxDB.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9 a 12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Francianna Aro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Routers/Switches, InfluxDB.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Sintaxis de ACLs.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1100"/>
                        <a:t>4. Plataforma NOC y Alertas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Dashboard en Grafana (fisura/conectividad) y notificaciones por Telegram.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13 a 16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Néstor Navarro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Grafana, API Telegram.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100"/>
                        <a:t>Dificultad:</a:t>
                      </a:r>
                      <a:r>
                        <a:rPr lang="en-US" sz="1100"/>
                        <a:t> Disparadores de alerta.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2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989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175">
                          <a:solidFill>
                            <a:schemeClr val="dk1"/>
                          </a:solidFill>
                        </a:rPr>
                        <a:t>5. </a:t>
                      </a:r>
                      <a:r>
                        <a:rPr b="1" lang="en-US" sz="1175">
                          <a:solidFill>
                            <a:schemeClr val="dk1"/>
                          </a:solidFill>
                        </a:rPr>
                        <a:t>Pruebas integrales, simulación de fallas y entrega final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Pruebas integrales de flujo completo (End-to-End), simulación de caídas de enlaces/nodos y redacción de memoria técnica final.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Semanas 17 a 18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/>
                        <a:t>Equipo completo 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Test de estrés, Memoria técnica final.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>
                          <a:solidFill>
                            <a:schemeClr val="dk1"/>
                          </a:solidFill>
                        </a:rPr>
                        <a:t>Dificultad: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Simulación de fallas y estabilidad global.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3673971"/>
            <a:ext cx="1988790" cy="1100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571500" y="3673971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451520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716535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981551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246566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511581" y="3292971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691801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1 - 4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73342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Diseño de arquitectura de red y segmentación VLAN (Joao Jeldrez)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2956816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5 - 8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2998440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Programación ESP32 y broker Mosquitto (Néstor Navarro)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5221831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9 - 12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526345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Seguridad con ACLs e ingesta en InfluxDB (Francianna Aro)</a:t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7486847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13 - 16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7528470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Despliegue de Grafana y Alertas Telegram (Néstor / Joao)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9751862" y="3835896"/>
            <a:ext cx="1748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17 - 18</a:t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9793485" y="4093071"/>
            <a:ext cx="1664940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Pruebas integrales, simulación de fallas y entrega final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y Carta Gantt</a:t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 txBox="1"/>
          <p:nvPr/>
        </p:nvSpPr>
        <p:spPr>
          <a:xfrm>
            <a:off x="1047750" y="2881312"/>
            <a:ext cx="10096500" cy="89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Más allá de los sensores, brokers y líneas de código, este proyecto demuestra cómo la conectividad y la ciberseguridad pueden trabajar juntas para proteger infraestructura crítica y salvar vidas. Logramos demostrar que integrar dispositivos IoT no exige poner en riesgo la red corporativa si se diseña con aislamiento, monitoreo activo y rigurosidad técnica desde el primer día.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571500" y="4572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 y Reflexión del Equipo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b700aa78_0_23"/>
          <p:cNvSpPr txBox="1"/>
          <p:nvPr/>
        </p:nvSpPr>
        <p:spPr>
          <a:xfrm>
            <a:off x="3893700" y="483125"/>
            <a:ext cx="47262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¿Comentarios o preguntas?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g3f8b700aa7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075" y="1573175"/>
            <a:ext cx="7447858" cy="44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